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8288000" cy="10287000"/>
  <p:notesSz cx="6858000" cy="9144000"/>
  <p:embeddedFontLst>
    <p:embeddedFont>
      <p:font typeface="Poppins" panose="00000500000000000000" pitchFamily="2" charset="0"/>
      <p:regular r:id="rId20"/>
    </p:embeddedFont>
    <p:embeddedFont>
      <p:font typeface="Poppins Italics" panose="020B0604020202020204" charset="0"/>
      <p:regular r:id="rId21"/>
    </p:embeddedFont>
    <p:embeddedFont>
      <p:font typeface="Poppins Medium" panose="00000600000000000000" pitchFamily="2" charset="0"/>
      <p:regular r:id="rId22"/>
    </p:embeddedFont>
    <p:embeddedFont>
      <p:font typeface="Rubik One" panose="020B0604020202020204" charset="-79"/>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84C9FE-BDE7-4C48-ACC2-EEE8DDAA4EEF}" v="6" dt="2026-04-14T13:59:35.8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775" autoAdjust="0"/>
  </p:normalViewPr>
  <p:slideViewPr>
    <p:cSldViewPr>
      <p:cViewPr varScale="1">
        <p:scale>
          <a:sx n="55" d="100"/>
          <a:sy n="55" d="100"/>
        </p:scale>
        <p:origin x="65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1</a:t>
            </a:fld>
            <a:endParaRPr lang="cs-CZ"/>
          </a:p>
        </p:txBody>
      </p:sp>
    </p:spTree>
    <p:extLst>
      <p:ext uri="{BB962C8B-B14F-4D97-AF65-F5344CB8AC3E}">
        <p14:creationId xmlns:p14="http://schemas.microsoft.com/office/powerpoint/2010/main" val="19938477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8</a:t>
            </a:fld>
            <a:endParaRPr lang="cs-CZ"/>
          </a:p>
        </p:txBody>
      </p:sp>
    </p:spTree>
    <p:extLst>
      <p:ext uri="{BB962C8B-B14F-4D97-AF65-F5344CB8AC3E}">
        <p14:creationId xmlns:p14="http://schemas.microsoft.com/office/powerpoint/2010/main" val="2840271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4.sv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4.sv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4.sv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4.sv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4.sv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913315" y="-756372"/>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3"/>
            <a:stretch>
              <a:fillRect/>
            </a:stretch>
          </a:blipFill>
        </p:spPr>
        <p:txBody>
          <a:bodyPr/>
          <a:lstStyle/>
          <a:p>
            <a:endParaRPr lang="en-US"/>
          </a:p>
        </p:txBody>
      </p:sp>
      <p:sp>
        <p:nvSpPr>
          <p:cNvPr id="3" name="Freeform 3"/>
          <p:cNvSpPr/>
          <p:nvPr/>
        </p:nvSpPr>
        <p:spPr>
          <a:xfrm>
            <a:off x="-2226026" y="2646600"/>
            <a:ext cx="8405795" cy="8229600"/>
          </a:xfrm>
          <a:custGeom>
            <a:avLst/>
            <a:gdLst/>
            <a:ahLst/>
            <a:cxnLst/>
            <a:rect l="l" t="t" r="r" b="b"/>
            <a:pathLst>
              <a:path w="8405795" h="8229600">
                <a:moveTo>
                  <a:pt x="0" y="0"/>
                </a:moveTo>
                <a:lnTo>
                  <a:pt x="8405796" y="0"/>
                </a:lnTo>
                <a:lnTo>
                  <a:pt x="8405796" y="8229600"/>
                </a:lnTo>
                <a:lnTo>
                  <a:pt x="0" y="8229600"/>
                </a:lnTo>
                <a:lnTo>
                  <a:pt x="0" y="0"/>
                </a:lnTo>
                <a:close/>
              </a:path>
            </a:pathLst>
          </a:custGeom>
          <a:blipFill>
            <a:blip r:embed="rId3"/>
            <a:stretch>
              <a:fillRect/>
            </a:stretch>
          </a:blipFill>
        </p:spPr>
        <p:txBody>
          <a:bodyPr/>
          <a:lstStyle/>
          <a:p>
            <a:endParaRPr lang="en-US"/>
          </a:p>
        </p:txBody>
      </p:sp>
      <p:sp>
        <p:nvSpPr>
          <p:cNvPr id="4" name="Freeform 4"/>
          <p:cNvSpPr/>
          <p:nvPr/>
        </p:nvSpPr>
        <p:spPr>
          <a:xfrm>
            <a:off x="-1326401" y="6761400"/>
            <a:ext cx="3095205" cy="3087467"/>
          </a:xfrm>
          <a:custGeom>
            <a:avLst/>
            <a:gdLst/>
            <a:ahLst/>
            <a:cxnLst/>
            <a:rect l="l" t="t" r="r" b="b"/>
            <a:pathLst>
              <a:path w="3095205" h="3087467">
                <a:moveTo>
                  <a:pt x="0" y="0"/>
                </a:moveTo>
                <a:lnTo>
                  <a:pt x="3095205" y="0"/>
                </a:lnTo>
                <a:lnTo>
                  <a:pt x="3095205" y="3087467"/>
                </a:lnTo>
                <a:lnTo>
                  <a:pt x="0" y="308746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16555686" y="399488"/>
            <a:ext cx="3156157" cy="3148266"/>
          </a:xfrm>
          <a:custGeom>
            <a:avLst/>
            <a:gdLst/>
            <a:ahLst/>
            <a:cxnLst/>
            <a:rect l="l" t="t" r="r" b="b"/>
            <a:pathLst>
              <a:path w="3156157" h="3148266">
                <a:moveTo>
                  <a:pt x="0" y="0"/>
                </a:moveTo>
                <a:lnTo>
                  <a:pt x="3156156" y="0"/>
                </a:lnTo>
                <a:lnTo>
                  <a:pt x="3156156" y="3148266"/>
                </a:lnTo>
                <a:lnTo>
                  <a:pt x="0" y="314826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2077569" y="-2270488"/>
            <a:ext cx="4597542" cy="4114800"/>
          </a:xfrm>
          <a:custGeom>
            <a:avLst/>
            <a:gdLst/>
            <a:ahLst/>
            <a:cxnLst/>
            <a:rect l="l" t="t" r="r" b="b"/>
            <a:pathLst>
              <a:path w="4597542" h="4114800">
                <a:moveTo>
                  <a:pt x="0" y="0"/>
                </a:moveTo>
                <a:lnTo>
                  <a:pt x="4597542" y="0"/>
                </a:lnTo>
                <a:lnTo>
                  <a:pt x="4597542"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p:nvSpPr>
        <p:spPr>
          <a:xfrm>
            <a:off x="15698618" y="8406361"/>
            <a:ext cx="4597542" cy="4114800"/>
          </a:xfrm>
          <a:custGeom>
            <a:avLst/>
            <a:gdLst/>
            <a:ahLst/>
            <a:cxnLst/>
            <a:rect l="l" t="t" r="r" b="b"/>
            <a:pathLst>
              <a:path w="4597542" h="4114800">
                <a:moveTo>
                  <a:pt x="0" y="0"/>
                </a:moveTo>
                <a:lnTo>
                  <a:pt x="4597542" y="0"/>
                </a:lnTo>
                <a:lnTo>
                  <a:pt x="4597542"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TextBox 8"/>
          <p:cNvSpPr txBox="1"/>
          <p:nvPr/>
        </p:nvSpPr>
        <p:spPr>
          <a:xfrm>
            <a:off x="2837027" y="3615603"/>
            <a:ext cx="12613945" cy="2399596"/>
          </a:xfrm>
          <a:prstGeom prst="rect">
            <a:avLst/>
          </a:prstGeom>
        </p:spPr>
        <p:txBody>
          <a:bodyPr lIns="0" tIns="0" rIns="0" bIns="0" rtlCol="0" anchor="t">
            <a:spAutoFit/>
          </a:bodyPr>
          <a:lstStyle/>
          <a:p>
            <a:pPr algn="ctr">
              <a:lnSpc>
                <a:spcPts val="9169"/>
              </a:lnSpc>
            </a:pPr>
            <a:r>
              <a:rPr lang="en-US" sz="9859">
                <a:solidFill>
                  <a:srgbClr val="7C8CBF"/>
                </a:solidFill>
                <a:latin typeface="Rubik One"/>
                <a:ea typeface="Rubik One"/>
                <a:cs typeface="Rubik One"/>
                <a:sym typeface="Rubik One"/>
              </a:rPr>
              <a:t>AI IN</a:t>
            </a:r>
          </a:p>
          <a:p>
            <a:pPr algn="ctr">
              <a:lnSpc>
                <a:spcPts val="9169"/>
              </a:lnSpc>
            </a:pPr>
            <a:r>
              <a:rPr lang="en-US" sz="9859">
                <a:solidFill>
                  <a:srgbClr val="7C8CBF"/>
                </a:solidFill>
                <a:latin typeface="Rubik One"/>
                <a:ea typeface="Rubik One"/>
                <a:cs typeface="Rubik One"/>
                <a:sym typeface="Rubik One"/>
              </a:rPr>
              <a:t>MEDICINE</a:t>
            </a:r>
          </a:p>
        </p:txBody>
      </p:sp>
      <p:grpSp>
        <p:nvGrpSpPr>
          <p:cNvPr id="9" name="Group 9"/>
          <p:cNvGrpSpPr/>
          <p:nvPr/>
        </p:nvGrpSpPr>
        <p:grpSpPr>
          <a:xfrm>
            <a:off x="4480497" y="6014995"/>
            <a:ext cx="9327006" cy="746405"/>
            <a:chOff x="0" y="0"/>
            <a:chExt cx="2456495" cy="196584"/>
          </a:xfrm>
        </p:grpSpPr>
        <p:sp>
          <p:nvSpPr>
            <p:cNvPr id="10" name="Freeform 10"/>
            <p:cNvSpPr/>
            <p:nvPr/>
          </p:nvSpPr>
          <p:spPr>
            <a:xfrm>
              <a:off x="0" y="0"/>
              <a:ext cx="2456495" cy="196584"/>
            </a:xfrm>
            <a:custGeom>
              <a:avLst/>
              <a:gdLst/>
              <a:ahLst/>
              <a:cxnLst/>
              <a:rect l="l" t="t" r="r" b="b"/>
              <a:pathLst>
                <a:path w="2456495" h="196584">
                  <a:moveTo>
                    <a:pt x="42333" y="0"/>
                  </a:moveTo>
                  <a:lnTo>
                    <a:pt x="2414163" y="0"/>
                  </a:lnTo>
                  <a:cubicBezTo>
                    <a:pt x="2425390" y="0"/>
                    <a:pt x="2436158" y="4460"/>
                    <a:pt x="2444096" y="12399"/>
                  </a:cubicBezTo>
                  <a:cubicBezTo>
                    <a:pt x="2452035" y="20338"/>
                    <a:pt x="2456495" y="31105"/>
                    <a:pt x="2456495" y="42333"/>
                  </a:cubicBezTo>
                  <a:lnTo>
                    <a:pt x="2456495" y="154251"/>
                  </a:lnTo>
                  <a:cubicBezTo>
                    <a:pt x="2456495" y="165479"/>
                    <a:pt x="2452035" y="176246"/>
                    <a:pt x="2444096" y="184185"/>
                  </a:cubicBezTo>
                  <a:cubicBezTo>
                    <a:pt x="2436158" y="192124"/>
                    <a:pt x="2425390" y="196584"/>
                    <a:pt x="2414163" y="196584"/>
                  </a:cubicBezTo>
                  <a:lnTo>
                    <a:pt x="42333" y="196584"/>
                  </a:lnTo>
                  <a:cubicBezTo>
                    <a:pt x="31105" y="196584"/>
                    <a:pt x="20338" y="192124"/>
                    <a:pt x="12399" y="184185"/>
                  </a:cubicBezTo>
                  <a:cubicBezTo>
                    <a:pt x="4460" y="176246"/>
                    <a:pt x="0" y="165479"/>
                    <a:pt x="0" y="154251"/>
                  </a:cubicBezTo>
                  <a:lnTo>
                    <a:pt x="0" y="42333"/>
                  </a:lnTo>
                  <a:cubicBezTo>
                    <a:pt x="0" y="31105"/>
                    <a:pt x="4460" y="20338"/>
                    <a:pt x="12399" y="12399"/>
                  </a:cubicBezTo>
                  <a:cubicBezTo>
                    <a:pt x="20338" y="4460"/>
                    <a:pt x="31105" y="0"/>
                    <a:pt x="42333" y="0"/>
                  </a:cubicBezTo>
                  <a:close/>
                </a:path>
              </a:pathLst>
            </a:custGeom>
            <a:solidFill>
              <a:srgbClr val="7C8CBF"/>
            </a:solidFill>
          </p:spPr>
          <p:txBody>
            <a:bodyPr/>
            <a:lstStyle/>
            <a:p>
              <a:endParaRPr lang="en-US"/>
            </a:p>
          </p:txBody>
        </p:sp>
        <p:sp>
          <p:nvSpPr>
            <p:cNvPr id="11" name="TextBox 11"/>
            <p:cNvSpPr txBox="1"/>
            <p:nvPr/>
          </p:nvSpPr>
          <p:spPr>
            <a:xfrm>
              <a:off x="0" y="-57150"/>
              <a:ext cx="2456495" cy="253734"/>
            </a:xfrm>
            <a:prstGeom prst="rect">
              <a:avLst/>
            </a:prstGeom>
          </p:spPr>
          <p:txBody>
            <a:bodyPr lIns="50800" tIns="50800" rIns="50800" bIns="50800" rtlCol="0" anchor="ctr"/>
            <a:lstStyle/>
            <a:p>
              <a:pPr algn="ctr">
                <a:lnSpc>
                  <a:spcPts val="2786"/>
                </a:lnSpc>
              </a:pPr>
              <a:endParaRPr/>
            </a:p>
          </p:txBody>
        </p:sp>
      </p:grpSp>
      <p:sp>
        <p:nvSpPr>
          <p:cNvPr id="12" name="TextBox 12"/>
          <p:cNvSpPr txBox="1"/>
          <p:nvPr/>
        </p:nvSpPr>
        <p:spPr>
          <a:xfrm>
            <a:off x="4591288" y="6091091"/>
            <a:ext cx="9105424" cy="483341"/>
          </a:xfrm>
          <a:prstGeom prst="rect">
            <a:avLst/>
          </a:prstGeom>
        </p:spPr>
        <p:txBody>
          <a:bodyPr lIns="0" tIns="0" rIns="0" bIns="0" rtlCol="0" anchor="t">
            <a:spAutoFit/>
          </a:bodyPr>
          <a:lstStyle/>
          <a:p>
            <a:pPr algn="ctr">
              <a:lnSpc>
                <a:spcPts val="3772"/>
              </a:lnSpc>
              <a:spcBef>
                <a:spcPct val="0"/>
              </a:spcBef>
            </a:pPr>
            <a:r>
              <a:rPr lang="en-US" sz="2694" b="1">
                <a:solidFill>
                  <a:srgbClr val="FFFFFF"/>
                </a:solidFill>
                <a:latin typeface="Poppins Medium"/>
                <a:ea typeface="Poppins Medium"/>
                <a:cs typeface="Poppins Medium"/>
                <a:sym typeface="Poppins Medium"/>
              </a:rPr>
              <a:t>Created by: Himani Batham </a:t>
            </a:r>
          </a:p>
        </p:txBody>
      </p:sp>
      <p:sp>
        <p:nvSpPr>
          <p:cNvPr id="13" name="TextBox 13"/>
          <p:cNvSpPr txBox="1"/>
          <p:nvPr/>
        </p:nvSpPr>
        <p:spPr>
          <a:xfrm>
            <a:off x="1028700" y="1615271"/>
            <a:ext cx="1896344" cy="358349"/>
          </a:xfrm>
          <a:prstGeom prst="rect">
            <a:avLst/>
          </a:prstGeom>
        </p:spPr>
        <p:txBody>
          <a:bodyPr lIns="0" tIns="0" rIns="0" bIns="0" rtlCol="0" anchor="t">
            <a:spAutoFit/>
          </a:bodyPr>
          <a:lstStyle/>
          <a:p>
            <a:pPr algn="l">
              <a:lnSpc>
                <a:spcPts val="2786"/>
              </a:lnSpc>
              <a:spcBef>
                <a:spcPct val="0"/>
              </a:spcBef>
            </a:pPr>
            <a:r>
              <a:rPr lang="en-US" sz="1990" b="1">
                <a:solidFill>
                  <a:srgbClr val="000000"/>
                </a:solidFill>
                <a:latin typeface="Poppins Medium"/>
                <a:ea typeface="Poppins Medium"/>
                <a:cs typeface="Poppins Medium"/>
                <a:sym typeface="Poppins Medium"/>
              </a:rPr>
              <a:t>CSIT-100_08</a:t>
            </a:r>
          </a:p>
        </p:txBody>
      </p:sp>
      <p:sp>
        <p:nvSpPr>
          <p:cNvPr id="14" name="TextBox 14"/>
          <p:cNvSpPr txBox="1"/>
          <p:nvPr/>
        </p:nvSpPr>
        <p:spPr>
          <a:xfrm>
            <a:off x="1028700" y="1916471"/>
            <a:ext cx="1896344" cy="358349"/>
          </a:xfrm>
          <a:prstGeom prst="rect">
            <a:avLst/>
          </a:prstGeom>
        </p:spPr>
        <p:txBody>
          <a:bodyPr lIns="0" tIns="0" rIns="0" bIns="0" rtlCol="0" anchor="t">
            <a:spAutoFit/>
          </a:bodyPr>
          <a:lstStyle/>
          <a:p>
            <a:pPr algn="l">
              <a:lnSpc>
                <a:spcPts val="2786"/>
              </a:lnSpc>
              <a:spcBef>
                <a:spcPct val="0"/>
              </a:spcBef>
            </a:pPr>
            <a:r>
              <a:rPr lang="en-US" sz="1990" spc="-39">
                <a:solidFill>
                  <a:srgbClr val="000000"/>
                </a:solidFill>
                <a:latin typeface="Poppins"/>
                <a:ea typeface="Poppins"/>
                <a:cs typeface="Poppins"/>
                <a:sym typeface="Poppins"/>
              </a:rPr>
              <a:t>April 9,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056402" y="3391169"/>
            <a:ext cx="8405795" cy="8229600"/>
          </a:xfrm>
          <a:custGeom>
            <a:avLst/>
            <a:gdLst/>
            <a:ahLst/>
            <a:cxnLst/>
            <a:rect l="l" t="t" r="r" b="b"/>
            <a:pathLst>
              <a:path w="8405795" h="8229600">
                <a:moveTo>
                  <a:pt x="0" y="0"/>
                </a:moveTo>
                <a:lnTo>
                  <a:pt x="8405796" y="0"/>
                </a:lnTo>
                <a:lnTo>
                  <a:pt x="8405796" y="8229600"/>
                </a:lnTo>
                <a:lnTo>
                  <a:pt x="0" y="8229600"/>
                </a:lnTo>
                <a:lnTo>
                  <a:pt x="0" y="0"/>
                </a:lnTo>
                <a:close/>
              </a:path>
            </a:pathLst>
          </a:custGeom>
          <a:blipFill>
            <a:blip r:embed="rId2"/>
            <a:stretch>
              <a:fillRect/>
            </a:stretch>
          </a:blipFill>
        </p:spPr>
        <p:txBody>
          <a:bodyPr/>
          <a:lstStyle/>
          <a:p>
            <a:endParaRPr lang="en-US"/>
          </a:p>
        </p:txBody>
      </p:sp>
      <p:sp>
        <p:nvSpPr>
          <p:cNvPr id="3" name="Freeform 3"/>
          <p:cNvSpPr/>
          <p:nvPr/>
        </p:nvSpPr>
        <p:spPr>
          <a:xfrm>
            <a:off x="-2852128" y="-1944507"/>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2"/>
            <a:stretch>
              <a:fillRect/>
            </a:stretch>
          </a:blipFill>
        </p:spPr>
        <p:txBody>
          <a:bodyPr/>
          <a:lstStyle/>
          <a:p>
            <a:endParaRPr lang="en-US"/>
          </a:p>
        </p:txBody>
      </p:sp>
      <p:sp>
        <p:nvSpPr>
          <p:cNvPr id="4" name="Freeform 4"/>
          <p:cNvSpPr/>
          <p:nvPr/>
        </p:nvSpPr>
        <p:spPr>
          <a:xfrm>
            <a:off x="-1070890" y="760871"/>
            <a:ext cx="3095205" cy="3087467"/>
          </a:xfrm>
          <a:custGeom>
            <a:avLst/>
            <a:gdLst/>
            <a:ahLst/>
            <a:cxnLst/>
            <a:rect l="l" t="t" r="r" b="b"/>
            <a:pathLst>
              <a:path w="3095205" h="3087467">
                <a:moveTo>
                  <a:pt x="0" y="0"/>
                </a:moveTo>
                <a:lnTo>
                  <a:pt x="3095204" y="0"/>
                </a:lnTo>
                <a:lnTo>
                  <a:pt x="3095204" y="3087467"/>
                </a:lnTo>
                <a:lnTo>
                  <a:pt x="0" y="308746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6614151" y="7837770"/>
            <a:ext cx="3156157" cy="3148266"/>
          </a:xfrm>
          <a:custGeom>
            <a:avLst/>
            <a:gdLst/>
            <a:ahLst/>
            <a:cxnLst/>
            <a:rect l="l" t="t" r="r" b="b"/>
            <a:pathLst>
              <a:path w="3156157" h="3148266">
                <a:moveTo>
                  <a:pt x="0" y="0"/>
                </a:moveTo>
                <a:lnTo>
                  <a:pt x="3156156" y="0"/>
                </a:lnTo>
                <a:lnTo>
                  <a:pt x="3156156" y="3148266"/>
                </a:lnTo>
                <a:lnTo>
                  <a:pt x="0" y="31482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4648336" y="-2641169"/>
            <a:ext cx="5476355" cy="4901338"/>
          </a:xfrm>
          <a:custGeom>
            <a:avLst/>
            <a:gdLst/>
            <a:ahLst/>
            <a:cxnLst/>
            <a:rect l="l" t="t" r="r" b="b"/>
            <a:pathLst>
              <a:path w="5476355" h="4901338">
                <a:moveTo>
                  <a:pt x="0" y="0"/>
                </a:moveTo>
                <a:lnTo>
                  <a:pt x="5476354" y="0"/>
                </a:lnTo>
                <a:lnTo>
                  <a:pt x="5476354" y="4901338"/>
                </a:lnTo>
                <a:lnTo>
                  <a:pt x="0" y="490133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848757" y="7996502"/>
            <a:ext cx="5213924" cy="4666462"/>
          </a:xfrm>
          <a:custGeom>
            <a:avLst/>
            <a:gdLst/>
            <a:ahLst/>
            <a:cxnLst/>
            <a:rect l="l" t="t" r="r" b="b"/>
            <a:pathLst>
              <a:path w="5213924" h="4666462">
                <a:moveTo>
                  <a:pt x="0" y="0"/>
                </a:moveTo>
                <a:lnTo>
                  <a:pt x="5213924" y="0"/>
                </a:lnTo>
                <a:lnTo>
                  <a:pt x="5213924" y="4666462"/>
                </a:lnTo>
                <a:lnTo>
                  <a:pt x="0" y="466646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p:cNvSpPr/>
          <p:nvPr/>
        </p:nvSpPr>
        <p:spPr>
          <a:xfrm>
            <a:off x="2910538" y="3283425"/>
            <a:ext cx="4173437" cy="4554345"/>
          </a:xfrm>
          <a:custGeom>
            <a:avLst/>
            <a:gdLst/>
            <a:ahLst/>
            <a:cxnLst/>
            <a:rect l="l" t="t" r="r" b="b"/>
            <a:pathLst>
              <a:path w="4173437" h="4554345">
                <a:moveTo>
                  <a:pt x="0" y="0"/>
                </a:moveTo>
                <a:lnTo>
                  <a:pt x="4173436" y="0"/>
                </a:lnTo>
                <a:lnTo>
                  <a:pt x="4173436" y="4554345"/>
                </a:lnTo>
                <a:lnTo>
                  <a:pt x="0" y="455434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2" name="TextBox 12"/>
          <p:cNvSpPr txBox="1"/>
          <p:nvPr/>
        </p:nvSpPr>
        <p:spPr>
          <a:xfrm>
            <a:off x="8489578" y="3014179"/>
            <a:ext cx="7527349" cy="1420953"/>
          </a:xfrm>
          <a:prstGeom prst="rect">
            <a:avLst/>
          </a:prstGeom>
        </p:spPr>
        <p:txBody>
          <a:bodyPr lIns="0" tIns="0" rIns="0" bIns="0" rtlCol="0" anchor="t">
            <a:spAutoFit/>
          </a:bodyPr>
          <a:lstStyle/>
          <a:p>
            <a:pPr algn="r">
              <a:lnSpc>
                <a:spcPts val="5471"/>
              </a:lnSpc>
            </a:pPr>
            <a:r>
              <a:rPr lang="en-US" sz="5883">
                <a:solidFill>
                  <a:srgbClr val="566186"/>
                </a:solidFill>
                <a:latin typeface="Rubik One"/>
                <a:ea typeface="Rubik One"/>
                <a:cs typeface="Rubik One"/>
                <a:sym typeface="Rubik One"/>
              </a:rPr>
              <a:t>ARTIFICIAL INTELLIGENCE</a:t>
            </a:r>
          </a:p>
        </p:txBody>
      </p:sp>
      <p:sp>
        <p:nvSpPr>
          <p:cNvPr id="13" name="TextBox 13"/>
          <p:cNvSpPr txBox="1"/>
          <p:nvPr/>
        </p:nvSpPr>
        <p:spPr>
          <a:xfrm>
            <a:off x="9932388" y="4638136"/>
            <a:ext cx="5974869" cy="2054750"/>
          </a:xfrm>
          <a:prstGeom prst="rect">
            <a:avLst/>
          </a:prstGeom>
        </p:spPr>
        <p:txBody>
          <a:bodyPr lIns="0" tIns="0" rIns="0" bIns="0" rtlCol="0" anchor="t">
            <a:spAutoFit/>
          </a:bodyPr>
          <a:lstStyle/>
          <a:p>
            <a:pPr algn="r">
              <a:lnSpc>
                <a:spcPts val="3296"/>
              </a:lnSpc>
              <a:spcBef>
                <a:spcPct val="0"/>
              </a:spcBef>
            </a:pPr>
            <a:r>
              <a:rPr lang="en-US" sz="2354" spc="-47">
                <a:solidFill>
                  <a:srgbClr val="000000"/>
                </a:solidFill>
                <a:latin typeface="Poppins"/>
                <a:ea typeface="Poppins"/>
                <a:cs typeface="Poppins"/>
                <a:sym typeface="Poppins"/>
              </a:rPr>
              <a:t>Artificial Intelligence refers to computer systems which is designed to perform tasks that normally requires human intelligence such as learning, reasoning, pattern recognition and decision making.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459601" y="-614098"/>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2"/>
            <a:stretch>
              <a:fillRect/>
            </a:stretch>
          </a:blipFill>
        </p:spPr>
        <p:txBody>
          <a:bodyPr/>
          <a:lstStyle/>
          <a:p>
            <a:endParaRPr lang="en-US"/>
          </a:p>
        </p:txBody>
      </p:sp>
      <p:sp>
        <p:nvSpPr>
          <p:cNvPr id="3" name="Freeform 3"/>
          <p:cNvSpPr/>
          <p:nvPr/>
        </p:nvSpPr>
        <p:spPr>
          <a:xfrm>
            <a:off x="-5546570" y="-3984132"/>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2"/>
            <a:stretch>
              <a:fillRect/>
            </a:stretch>
          </a:blipFill>
        </p:spPr>
        <p:txBody>
          <a:bodyPr/>
          <a:lstStyle/>
          <a:p>
            <a:endParaRPr lang="en-US"/>
          </a:p>
        </p:txBody>
      </p:sp>
      <p:sp>
        <p:nvSpPr>
          <p:cNvPr id="4" name="Freeform 4"/>
          <p:cNvSpPr/>
          <p:nvPr/>
        </p:nvSpPr>
        <p:spPr>
          <a:xfrm>
            <a:off x="16218029" y="-515033"/>
            <a:ext cx="3095205" cy="3087467"/>
          </a:xfrm>
          <a:custGeom>
            <a:avLst/>
            <a:gdLst/>
            <a:ahLst/>
            <a:cxnLst/>
            <a:rect l="l" t="t" r="r" b="b"/>
            <a:pathLst>
              <a:path w="3095205" h="3087467">
                <a:moveTo>
                  <a:pt x="0" y="0"/>
                </a:moveTo>
                <a:lnTo>
                  <a:pt x="3095204" y="0"/>
                </a:lnTo>
                <a:lnTo>
                  <a:pt x="3095204" y="3087466"/>
                </a:lnTo>
                <a:lnTo>
                  <a:pt x="0" y="30874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179285" y="8406361"/>
            <a:ext cx="3156157" cy="3148266"/>
          </a:xfrm>
          <a:custGeom>
            <a:avLst/>
            <a:gdLst/>
            <a:ahLst/>
            <a:cxnLst/>
            <a:rect l="l" t="t" r="r" b="b"/>
            <a:pathLst>
              <a:path w="3156157" h="3148266">
                <a:moveTo>
                  <a:pt x="0" y="0"/>
                </a:moveTo>
                <a:lnTo>
                  <a:pt x="3156157" y="0"/>
                </a:lnTo>
                <a:lnTo>
                  <a:pt x="3156157" y="3148266"/>
                </a:lnTo>
                <a:lnTo>
                  <a:pt x="0" y="31482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5421450" y="-2965702"/>
            <a:ext cx="5476355" cy="4901338"/>
          </a:xfrm>
          <a:custGeom>
            <a:avLst/>
            <a:gdLst/>
            <a:ahLst/>
            <a:cxnLst/>
            <a:rect l="l" t="t" r="r" b="b"/>
            <a:pathLst>
              <a:path w="5476355" h="4901338">
                <a:moveTo>
                  <a:pt x="0" y="0"/>
                </a:moveTo>
                <a:lnTo>
                  <a:pt x="5476355" y="0"/>
                </a:lnTo>
                <a:lnTo>
                  <a:pt x="5476355" y="4901337"/>
                </a:lnTo>
                <a:lnTo>
                  <a:pt x="0" y="490133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4556383" y="8251998"/>
            <a:ext cx="5213924" cy="4666462"/>
          </a:xfrm>
          <a:custGeom>
            <a:avLst/>
            <a:gdLst/>
            <a:ahLst/>
            <a:cxnLst/>
            <a:rect l="l" t="t" r="r" b="b"/>
            <a:pathLst>
              <a:path w="5213924" h="4666462">
                <a:moveTo>
                  <a:pt x="0" y="0"/>
                </a:moveTo>
                <a:lnTo>
                  <a:pt x="5213924" y="0"/>
                </a:lnTo>
                <a:lnTo>
                  <a:pt x="5213924" y="4666462"/>
                </a:lnTo>
                <a:lnTo>
                  <a:pt x="0" y="466646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8"/>
          <p:cNvSpPr txBox="1"/>
          <p:nvPr/>
        </p:nvSpPr>
        <p:spPr>
          <a:xfrm>
            <a:off x="1709292" y="2328448"/>
            <a:ext cx="8231768" cy="811885"/>
          </a:xfrm>
          <a:prstGeom prst="rect">
            <a:avLst/>
          </a:prstGeom>
        </p:spPr>
        <p:txBody>
          <a:bodyPr lIns="0" tIns="0" rIns="0" bIns="0" rtlCol="0" anchor="t">
            <a:spAutoFit/>
          </a:bodyPr>
          <a:lstStyle/>
          <a:p>
            <a:pPr algn="l">
              <a:lnSpc>
                <a:spcPts val="5983"/>
              </a:lnSpc>
            </a:pPr>
            <a:r>
              <a:rPr lang="en-US" sz="6434">
                <a:solidFill>
                  <a:srgbClr val="566186"/>
                </a:solidFill>
                <a:latin typeface="Rubik One"/>
                <a:ea typeface="Rubik One"/>
                <a:cs typeface="Rubik One"/>
                <a:sym typeface="Rubik One"/>
              </a:rPr>
              <a:t>INTRODUCTION</a:t>
            </a:r>
          </a:p>
        </p:txBody>
      </p:sp>
      <p:sp>
        <p:nvSpPr>
          <p:cNvPr id="9" name="TextBox 9"/>
          <p:cNvSpPr txBox="1"/>
          <p:nvPr/>
        </p:nvSpPr>
        <p:spPr>
          <a:xfrm>
            <a:off x="1709292" y="3177627"/>
            <a:ext cx="6943127" cy="3172356"/>
          </a:xfrm>
          <a:prstGeom prst="rect">
            <a:avLst/>
          </a:prstGeom>
        </p:spPr>
        <p:txBody>
          <a:bodyPr lIns="0" tIns="0" rIns="0" bIns="0" rtlCol="0" anchor="t">
            <a:spAutoFit/>
          </a:bodyPr>
          <a:lstStyle/>
          <a:p>
            <a:pPr marL="429689" lvl="1" indent="-214845" algn="l">
              <a:lnSpc>
                <a:spcPts val="2786"/>
              </a:lnSpc>
              <a:buFont typeface="Arial"/>
              <a:buChar char="•"/>
            </a:pPr>
            <a:r>
              <a:rPr lang="en-US" sz="1990" spc="-39">
                <a:solidFill>
                  <a:srgbClr val="000000"/>
                </a:solidFill>
                <a:latin typeface="Poppins"/>
                <a:ea typeface="Poppins"/>
                <a:cs typeface="Poppins"/>
                <a:sym typeface="Poppins"/>
              </a:rPr>
              <a:t>AI is transforming healthcare by improving efficiency, accuracy, and access.</a:t>
            </a:r>
          </a:p>
          <a:p>
            <a:pPr marL="429689" lvl="1" indent="-214845" algn="l">
              <a:lnSpc>
                <a:spcPts val="2786"/>
              </a:lnSpc>
              <a:buFont typeface="Arial"/>
              <a:buChar char="•"/>
            </a:pPr>
            <a:r>
              <a:rPr lang="en-US" sz="1990" spc="-39">
                <a:solidFill>
                  <a:srgbClr val="000000"/>
                </a:solidFill>
                <a:latin typeface="Poppins"/>
                <a:ea typeface="Poppins"/>
                <a:cs typeface="Poppins"/>
                <a:sym typeface="Poppins"/>
              </a:rPr>
              <a:t>It helps analyze large amounts of medical data quickly.</a:t>
            </a:r>
          </a:p>
          <a:p>
            <a:pPr marL="429689" lvl="1" indent="-214845" algn="l">
              <a:lnSpc>
                <a:spcPts val="2786"/>
              </a:lnSpc>
              <a:buFont typeface="Arial"/>
              <a:buChar char="•"/>
            </a:pPr>
            <a:r>
              <a:rPr lang="en-US" sz="1990" spc="-39">
                <a:solidFill>
                  <a:srgbClr val="000000"/>
                </a:solidFill>
                <a:latin typeface="Poppins"/>
                <a:ea typeface="Poppins"/>
                <a:cs typeface="Poppins"/>
                <a:sym typeface="Poppins"/>
              </a:rPr>
              <a:t>AI supports doctors in diagnosing diseases and making better decisions.</a:t>
            </a:r>
          </a:p>
          <a:p>
            <a:pPr marL="429689" lvl="1" indent="-214845" algn="l">
              <a:lnSpc>
                <a:spcPts val="2786"/>
              </a:lnSpc>
              <a:spcBef>
                <a:spcPct val="0"/>
              </a:spcBef>
              <a:buFont typeface="Arial"/>
              <a:buChar char="•"/>
            </a:pPr>
            <a:r>
              <a:rPr lang="en-US" sz="1990" spc="-39">
                <a:solidFill>
                  <a:srgbClr val="000000"/>
                </a:solidFill>
                <a:latin typeface="Poppins"/>
                <a:ea typeface="Poppins"/>
                <a:cs typeface="Poppins"/>
                <a:sym typeface="Poppins"/>
              </a:rPr>
              <a:t>It is a tool to assist—not replace—healthcare professionals.</a:t>
            </a:r>
          </a:p>
          <a:p>
            <a:pPr algn="l">
              <a:lnSpc>
                <a:spcPts val="2786"/>
              </a:lnSpc>
              <a:spcBef>
                <a:spcPct val="0"/>
              </a:spcBef>
            </a:pPr>
            <a:endParaRPr lang="en-US" sz="1990" spc="-39">
              <a:solidFill>
                <a:srgbClr val="000000"/>
              </a:solidFill>
              <a:latin typeface="Poppins"/>
              <a:ea typeface="Poppins"/>
              <a:cs typeface="Poppins"/>
              <a:sym typeface="Poppins"/>
            </a:endParaRPr>
          </a:p>
        </p:txBody>
      </p:sp>
      <p:grpSp>
        <p:nvGrpSpPr>
          <p:cNvPr id="10" name="Group 10"/>
          <p:cNvGrpSpPr/>
          <p:nvPr/>
        </p:nvGrpSpPr>
        <p:grpSpPr>
          <a:xfrm>
            <a:off x="1152015" y="6597633"/>
            <a:ext cx="7991985" cy="1843808"/>
            <a:chOff x="0" y="0"/>
            <a:chExt cx="2618362" cy="604075"/>
          </a:xfrm>
        </p:grpSpPr>
        <p:sp>
          <p:nvSpPr>
            <p:cNvPr id="11" name="Freeform 11"/>
            <p:cNvSpPr/>
            <p:nvPr/>
          </p:nvSpPr>
          <p:spPr>
            <a:xfrm>
              <a:off x="0" y="0"/>
              <a:ext cx="2618362" cy="604075"/>
            </a:xfrm>
            <a:custGeom>
              <a:avLst/>
              <a:gdLst/>
              <a:ahLst/>
              <a:cxnLst/>
              <a:rect l="l" t="t" r="r" b="b"/>
              <a:pathLst>
                <a:path w="2618362" h="604075">
                  <a:moveTo>
                    <a:pt x="49404" y="0"/>
                  </a:moveTo>
                  <a:lnTo>
                    <a:pt x="2568958" y="0"/>
                  </a:lnTo>
                  <a:cubicBezTo>
                    <a:pt x="2582061" y="0"/>
                    <a:pt x="2594627" y="5205"/>
                    <a:pt x="2603892" y="14470"/>
                  </a:cubicBezTo>
                  <a:cubicBezTo>
                    <a:pt x="2613157" y="23735"/>
                    <a:pt x="2618362" y="36301"/>
                    <a:pt x="2618362" y="49404"/>
                  </a:cubicBezTo>
                  <a:lnTo>
                    <a:pt x="2618362" y="554671"/>
                  </a:lnTo>
                  <a:cubicBezTo>
                    <a:pt x="2618362" y="567773"/>
                    <a:pt x="2613157" y="580339"/>
                    <a:pt x="2603892" y="589605"/>
                  </a:cubicBezTo>
                  <a:cubicBezTo>
                    <a:pt x="2594627" y="598870"/>
                    <a:pt x="2582061" y="604075"/>
                    <a:pt x="2568958" y="604075"/>
                  </a:cubicBezTo>
                  <a:lnTo>
                    <a:pt x="49404" y="604075"/>
                  </a:lnTo>
                  <a:cubicBezTo>
                    <a:pt x="36301" y="604075"/>
                    <a:pt x="23735" y="598870"/>
                    <a:pt x="14470" y="589605"/>
                  </a:cubicBezTo>
                  <a:cubicBezTo>
                    <a:pt x="5205" y="580339"/>
                    <a:pt x="0" y="567773"/>
                    <a:pt x="0" y="554671"/>
                  </a:cubicBezTo>
                  <a:lnTo>
                    <a:pt x="0" y="49404"/>
                  </a:lnTo>
                  <a:cubicBezTo>
                    <a:pt x="0" y="36301"/>
                    <a:pt x="5205" y="23735"/>
                    <a:pt x="14470" y="14470"/>
                  </a:cubicBezTo>
                  <a:cubicBezTo>
                    <a:pt x="23735" y="5205"/>
                    <a:pt x="36301" y="0"/>
                    <a:pt x="49404" y="0"/>
                  </a:cubicBezTo>
                  <a:close/>
                </a:path>
              </a:pathLst>
            </a:custGeom>
            <a:solidFill>
              <a:srgbClr val="DAE3FF"/>
            </a:solidFill>
            <a:ln cap="rnd">
              <a:noFill/>
              <a:prstDash val="solid"/>
              <a:round/>
            </a:ln>
          </p:spPr>
          <p:txBody>
            <a:bodyPr/>
            <a:lstStyle/>
            <a:p>
              <a:endParaRPr lang="en-US"/>
            </a:p>
          </p:txBody>
        </p:sp>
        <p:sp>
          <p:nvSpPr>
            <p:cNvPr id="12" name="TextBox 12"/>
            <p:cNvSpPr txBox="1"/>
            <p:nvPr/>
          </p:nvSpPr>
          <p:spPr>
            <a:xfrm>
              <a:off x="0" y="-57150"/>
              <a:ext cx="2618362" cy="661225"/>
            </a:xfrm>
            <a:prstGeom prst="rect">
              <a:avLst/>
            </a:prstGeom>
          </p:spPr>
          <p:txBody>
            <a:bodyPr lIns="50800" tIns="50800" rIns="50800" bIns="50800" rtlCol="0" anchor="ctr"/>
            <a:lstStyle/>
            <a:p>
              <a:pPr algn="ctr">
                <a:lnSpc>
                  <a:spcPts val="2786"/>
                </a:lnSpc>
              </a:pPr>
              <a:endParaRPr/>
            </a:p>
          </p:txBody>
        </p:sp>
      </p:grpSp>
      <p:sp>
        <p:nvSpPr>
          <p:cNvPr id="13" name="TextBox 13"/>
          <p:cNvSpPr txBox="1"/>
          <p:nvPr/>
        </p:nvSpPr>
        <p:spPr>
          <a:xfrm>
            <a:off x="1709292" y="6801624"/>
            <a:ext cx="7133330" cy="1378676"/>
          </a:xfrm>
          <a:prstGeom prst="rect">
            <a:avLst/>
          </a:prstGeom>
        </p:spPr>
        <p:txBody>
          <a:bodyPr lIns="0" tIns="0" rIns="0" bIns="0" rtlCol="0" anchor="t">
            <a:spAutoFit/>
          </a:bodyPr>
          <a:lstStyle/>
          <a:p>
            <a:pPr algn="l">
              <a:lnSpc>
                <a:spcPts val="2759"/>
              </a:lnSpc>
            </a:pPr>
            <a:r>
              <a:rPr lang="en-US" sz="1971" i="1" spc="-39">
                <a:solidFill>
                  <a:srgbClr val="000000"/>
                </a:solidFill>
                <a:latin typeface="Poppins Italics"/>
                <a:ea typeface="Poppins Italics"/>
                <a:cs typeface="Poppins Italics"/>
                <a:sym typeface="Poppins Italics"/>
              </a:rPr>
              <a:t>Did you know?</a:t>
            </a:r>
          </a:p>
          <a:p>
            <a:pPr algn="l">
              <a:lnSpc>
                <a:spcPts val="2759"/>
              </a:lnSpc>
            </a:pPr>
            <a:r>
              <a:rPr lang="en-US" sz="1971" i="1" spc="-39">
                <a:solidFill>
                  <a:srgbClr val="000000"/>
                </a:solidFill>
                <a:latin typeface="Poppins Italics"/>
                <a:ea typeface="Poppins Italics"/>
                <a:cs typeface="Poppins Italics"/>
                <a:sym typeface="Poppins Italics"/>
              </a:rPr>
              <a:t>Nearly two-third (66%) of US physicians reported using AI in 2024, a 78% increase from 2023.</a:t>
            </a:r>
          </a:p>
          <a:p>
            <a:pPr algn="l">
              <a:lnSpc>
                <a:spcPts val="2759"/>
              </a:lnSpc>
              <a:spcBef>
                <a:spcPct val="0"/>
              </a:spcBef>
            </a:pPr>
            <a:r>
              <a:rPr lang="en-US" sz="1971" i="1" spc="-39">
                <a:solidFill>
                  <a:srgbClr val="000000"/>
                </a:solidFill>
                <a:latin typeface="Poppins Italics"/>
                <a:ea typeface="Poppins Italics"/>
                <a:cs typeface="Poppins Italics"/>
                <a:sym typeface="Poppins Italics"/>
              </a:rPr>
              <a:t>60% of US hospitals use AI-driven predictive models.</a:t>
            </a:r>
          </a:p>
        </p:txBody>
      </p:sp>
      <p:sp>
        <p:nvSpPr>
          <p:cNvPr id="14" name="Freeform 14"/>
          <p:cNvSpPr/>
          <p:nvPr/>
        </p:nvSpPr>
        <p:spPr>
          <a:xfrm>
            <a:off x="10499160" y="2166523"/>
            <a:ext cx="5160769" cy="6595232"/>
          </a:xfrm>
          <a:custGeom>
            <a:avLst/>
            <a:gdLst/>
            <a:ahLst/>
            <a:cxnLst/>
            <a:rect l="l" t="t" r="r" b="b"/>
            <a:pathLst>
              <a:path w="5160769" h="6595232">
                <a:moveTo>
                  <a:pt x="0" y="0"/>
                </a:moveTo>
                <a:lnTo>
                  <a:pt x="5160769" y="0"/>
                </a:lnTo>
                <a:lnTo>
                  <a:pt x="5160769" y="6595231"/>
                </a:lnTo>
                <a:lnTo>
                  <a:pt x="0" y="6595231"/>
                </a:lnTo>
                <a:lnTo>
                  <a:pt x="0" y="0"/>
                </a:lnTo>
                <a:close/>
              </a:path>
            </a:pathLst>
          </a:custGeom>
          <a:blipFill>
            <a:blip r:embed="rId6"/>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3377" y="8539427"/>
            <a:ext cx="10031092" cy="10344504"/>
          </a:xfrm>
          <a:custGeom>
            <a:avLst/>
            <a:gdLst/>
            <a:ahLst/>
            <a:cxnLst/>
            <a:rect l="l" t="t" r="r" b="b"/>
            <a:pathLst>
              <a:path w="10031092" h="10344504">
                <a:moveTo>
                  <a:pt x="0" y="0"/>
                </a:moveTo>
                <a:lnTo>
                  <a:pt x="10031092" y="0"/>
                </a:lnTo>
                <a:lnTo>
                  <a:pt x="10031092" y="10344503"/>
                </a:lnTo>
                <a:lnTo>
                  <a:pt x="0" y="10344503"/>
                </a:lnTo>
                <a:lnTo>
                  <a:pt x="0" y="0"/>
                </a:lnTo>
                <a:close/>
              </a:path>
            </a:pathLst>
          </a:custGeom>
          <a:blipFill>
            <a:blip>
              <a:extLst>
                <a:ext uri="{96DAC541-7B7A-43D3-8B79-37D633B846F1}">
                  <asvg:svgBlip xmlns:asvg="http://schemas.microsoft.com/office/drawing/2016/SVG/main" r:embed="rId3"/>
                </a:ext>
              </a:extLst>
            </a:blip>
            <a:stretch>
              <a:fillRect b="-7595"/>
            </a:stretch>
          </a:blipFill>
        </p:spPr>
        <p:txBody>
          <a:bodyPr/>
          <a:lstStyle/>
          <a:p>
            <a:endParaRPr lang="en-US"/>
          </a:p>
        </p:txBody>
      </p:sp>
      <p:sp>
        <p:nvSpPr>
          <p:cNvPr id="3" name="Freeform 3"/>
          <p:cNvSpPr/>
          <p:nvPr/>
        </p:nvSpPr>
        <p:spPr>
          <a:xfrm flipV="1">
            <a:off x="10000572" y="-8690422"/>
            <a:ext cx="10031092" cy="10344504"/>
          </a:xfrm>
          <a:custGeom>
            <a:avLst/>
            <a:gdLst/>
            <a:ahLst/>
            <a:cxnLst/>
            <a:rect l="l" t="t" r="r" b="b"/>
            <a:pathLst>
              <a:path w="10031092" h="10344504">
                <a:moveTo>
                  <a:pt x="0" y="10344504"/>
                </a:moveTo>
                <a:lnTo>
                  <a:pt x="10031092" y="10344504"/>
                </a:lnTo>
                <a:lnTo>
                  <a:pt x="10031092" y="0"/>
                </a:lnTo>
                <a:lnTo>
                  <a:pt x="0" y="0"/>
                </a:lnTo>
                <a:lnTo>
                  <a:pt x="0" y="10344504"/>
                </a:lnTo>
                <a:close/>
              </a:path>
            </a:pathLst>
          </a:custGeom>
          <a:blipFill>
            <a:blip>
              <a:extLst>
                <a:ext uri="{96DAC541-7B7A-43D3-8B79-37D633B846F1}">
                  <asvg:svgBlip xmlns:asvg="http://schemas.microsoft.com/office/drawing/2016/SVG/main" r:embed="rId3"/>
                </a:ext>
              </a:extLst>
            </a:blip>
            <a:stretch>
              <a:fillRect b="-7595"/>
            </a:stretch>
          </a:blipFill>
        </p:spPr>
        <p:txBody>
          <a:bodyPr/>
          <a:lstStyle/>
          <a:p>
            <a:endParaRPr lang="en-US"/>
          </a:p>
        </p:txBody>
      </p:sp>
      <p:sp>
        <p:nvSpPr>
          <p:cNvPr id="4" name="Freeform 4"/>
          <p:cNvSpPr/>
          <p:nvPr/>
        </p:nvSpPr>
        <p:spPr>
          <a:xfrm>
            <a:off x="13459601" y="-614098"/>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4"/>
            <a:stretch>
              <a:fillRect/>
            </a:stretch>
          </a:blipFill>
        </p:spPr>
        <p:txBody>
          <a:bodyPr/>
          <a:lstStyle/>
          <a:p>
            <a:endParaRPr lang="en-US"/>
          </a:p>
        </p:txBody>
      </p:sp>
      <p:sp>
        <p:nvSpPr>
          <p:cNvPr id="5" name="Freeform 5"/>
          <p:cNvSpPr/>
          <p:nvPr/>
        </p:nvSpPr>
        <p:spPr>
          <a:xfrm>
            <a:off x="-5718946" y="-1542367"/>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4"/>
            <a:stretch>
              <a:fillRect/>
            </a:stretch>
          </a:blipFill>
        </p:spPr>
        <p:txBody>
          <a:bodyPr/>
          <a:lstStyle/>
          <a:p>
            <a:endParaRPr lang="en-US"/>
          </a:p>
        </p:txBody>
      </p:sp>
      <p:sp>
        <p:nvSpPr>
          <p:cNvPr id="6" name="Freeform 6"/>
          <p:cNvSpPr/>
          <p:nvPr/>
        </p:nvSpPr>
        <p:spPr>
          <a:xfrm>
            <a:off x="16218029" y="-515033"/>
            <a:ext cx="3095205" cy="3087467"/>
          </a:xfrm>
          <a:custGeom>
            <a:avLst/>
            <a:gdLst/>
            <a:ahLst/>
            <a:cxnLst/>
            <a:rect l="l" t="t" r="r" b="b"/>
            <a:pathLst>
              <a:path w="3095205" h="3087467">
                <a:moveTo>
                  <a:pt x="0" y="0"/>
                </a:moveTo>
                <a:lnTo>
                  <a:pt x="3095204" y="0"/>
                </a:lnTo>
                <a:lnTo>
                  <a:pt x="3095204" y="3087466"/>
                </a:lnTo>
                <a:lnTo>
                  <a:pt x="0" y="308746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179285" y="8406361"/>
            <a:ext cx="3156157" cy="3148266"/>
          </a:xfrm>
          <a:custGeom>
            <a:avLst/>
            <a:gdLst/>
            <a:ahLst/>
            <a:cxnLst/>
            <a:rect l="l" t="t" r="r" b="b"/>
            <a:pathLst>
              <a:path w="3156157" h="3148266">
                <a:moveTo>
                  <a:pt x="0" y="0"/>
                </a:moveTo>
                <a:lnTo>
                  <a:pt x="3156157" y="0"/>
                </a:lnTo>
                <a:lnTo>
                  <a:pt x="3156157" y="3148266"/>
                </a:lnTo>
                <a:lnTo>
                  <a:pt x="0" y="314826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Freeform 8"/>
          <p:cNvSpPr/>
          <p:nvPr/>
        </p:nvSpPr>
        <p:spPr>
          <a:xfrm>
            <a:off x="15902037" y="7848433"/>
            <a:ext cx="5213924" cy="4666462"/>
          </a:xfrm>
          <a:custGeom>
            <a:avLst/>
            <a:gdLst/>
            <a:ahLst/>
            <a:cxnLst/>
            <a:rect l="l" t="t" r="r" b="b"/>
            <a:pathLst>
              <a:path w="5213924" h="4666462">
                <a:moveTo>
                  <a:pt x="0" y="0"/>
                </a:moveTo>
                <a:lnTo>
                  <a:pt x="5213924" y="0"/>
                </a:lnTo>
                <a:lnTo>
                  <a:pt x="5213924" y="4666462"/>
                </a:lnTo>
                <a:lnTo>
                  <a:pt x="0" y="466646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TextBox 9"/>
          <p:cNvSpPr txBox="1"/>
          <p:nvPr/>
        </p:nvSpPr>
        <p:spPr>
          <a:xfrm>
            <a:off x="2643086" y="2997079"/>
            <a:ext cx="12249257" cy="1563658"/>
          </a:xfrm>
          <a:prstGeom prst="rect">
            <a:avLst/>
          </a:prstGeom>
        </p:spPr>
        <p:txBody>
          <a:bodyPr lIns="0" tIns="0" rIns="0" bIns="0" rtlCol="0" anchor="t">
            <a:spAutoFit/>
          </a:bodyPr>
          <a:lstStyle/>
          <a:p>
            <a:pPr algn="ctr">
              <a:lnSpc>
                <a:spcPts val="5983"/>
              </a:lnSpc>
            </a:pPr>
            <a:r>
              <a:rPr lang="en-US" sz="6434">
                <a:solidFill>
                  <a:srgbClr val="7C8CBF"/>
                </a:solidFill>
                <a:latin typeface="Rubik One"/>
                <a:ea typeface="Rubik One"/>
                <a:cs typeface="Rubik One"/>
                <a:sym typeface="Rubik One"/>
              </a:rPr>
              <a:t>HISTORY AND DEVELOPMENT</a:t>
            </a:r>
          </a:p>
        </p:txBody>
      </p:sp>
      <p:grpSp>
        <p:nvGrpSpPr>
          <p:cNvPr id="10" name="Group 10"/>
          <p:cNvGrpSpPr/>
          <p:nvPr/>
        </p:nvGrpSpPr>
        <p:grpSpPr>
          <a:xfrm>
            <a:off x="935467" y="4907620"/>
            <a:ext cx="5011659" cy="2293596"/>
            <a:chOff x="0" y="0"/>
            <a:chExt cx="1319943" cy="604075"/>
          </a:xfrm>
        </p:grpSpPr>
        <p:sp>
          <p:nvSpPr>
            <p:cNvPr id="11" name="Freeform 11"/>
            <p:cNvSpPr/>
            <p:nvPr/>
          </p:nvSpPr>
          <p:spPr>
            <a:xfrm>
              <a:off x="0" y="0"/>
              <a:ext cx="1319943" cy="604075"/>
            </a:xfrm>
            <a:custGeom>
              <a:avLst/>
              <a:gdLst/>
              <a:ahLst/>
              <a:cxnLst/>
              <a:rect l="l" t="t" r="r" b="b"/>
              <a:pathLst>
                <a:path w="1319943" h="604075">
                  <a:moveTo>
                    <a:pt x="78784" y="0"/>
                  </a:moveTo>
                  <a:lnTo>
                    <a:pt x="1241159" y="0"/>
                  </a:lnTo>
                  <a:cubicBezTo>
                    <a:pt x="1284670" y="0"/>
                    <a:pt x="1319943" y="35273"/>
                    <a:pt x="1319943" y="78784"/>
                  </a:cubicBezTo>
                  <a:lnTo>
                    <a:pt x="1319943" y="525291"/>
                  </a:lnTo>
                  <a:cubicBezTo>
                    <a:pt x="1319943" y="546186"/>
                    <a:pt x="1311643" y="566225"/>
                    <a:pt x="1296868" y="581000"/>
                  </a:cubicBezTo>
                  <a:cubicBezTo>
                    <a:pt x="1282093" y="595774"/>
                    <a:pt x="1262054" y="604075"/>
                    <a:pt x="1241159" y="604075"/>
                  </a:cubicBezTo>
                  <a:lnTo>
                    <a:pt x="78784" y="604075"/>
                  </a:lnTo>
                  <a:cubicBezTo>
                    <a:pt x="57889" y="604075"/>
                    <a:pt x="37850" y="595774"/>
                    <a:pt x="23075" y="581000"/>
                  </a:cubicBezTo>
                  <a:cubicBezTo>
                    <a:pt x="8300" y="566225"/>
                    <a:pt x="0" y="546186"/>
                    <a:pt x="0" y="525291"/>
                  </a:cubicBezTo>
                  <a:lnTo>
                    <a:pt x="0" y="78784"/>
                  </a:lnTo>
                  <a:cubicBezTo>
                    <a:pt x="0" y="57889"/>
                    <a:pt x="8300" y="37850"/>
                    <a:pt x="23075" y="23075"/>
                  </a:cubicBezTo>
                  <a:cubicBezTo>
                    <a:pt x="37850" y="8300"/>
                    <a:pt x="57889" y="0"/>
                    <a:pt x="78784" y="0"/>
                  </a:cubicBezTo>
                  <a:close/>
                </a:path>
              </a:pathLst>
            </a:custGeom>
            <a:solidFill>
              <a:srgbClr val="DAE3FF"/>
            </a:solidFill>
            <a:ln cap="rnd">
              <a:noFill/>
              <a:prstDash val="solid"/>
              <a:round/>
            </a:ln>
          </p:spPr>
          <p:txBody>
            <a:bodyPr/>
            <a:lstStyle/>
            <a:p>
              <a:endParaRPr lang="en-US"/>
            </a:p>
          </p:txBody>
        </p:sp>
        <p:sp>
          <p:nvSpPr>
            <p:cNvPr id="12" name="TextBox 12"/>
            <p:cNvSpPr txBox="1"/>
            <p:nvPr/>
          </p:nvSpPr>
          <p:spPr>
            <a:xfrm>
              <a:off x="0" y="-57150"/>
              <a:ext cx="1319943" cy="661225"/>
            </a:xfrm>
            <a:prstGeom prst="rect">
              <a:avLst/>
            </a:prstGeom>
          </p:spPr>
          <p:txBody>
            <a:bodyPr lIns="50800" tIns="50800" rIns="50800" bIns="50800" rtlCol="0" anchor="ctr"/>
            <a:lstStyle/>
            <a:p>
              <a:pPr algn="ctr">
                <a:lnSpc>
                  <a:spcPts val="2786"/>
                </a:lnSpc>
              </a:pPr>
              <a:endParaRPr/>
            </a:p>
          </p:txBody>
        </p:sp>
      </p:grpSp>
      <p:grpSp>
        <p:nvGrpSpPr>
          <p:cNvPr id="13" name="Group 13"/>
          <p:cNvGrpSpPr/>
          <p:nvPr/>
        </p:nvGrpSpPr>
        <p:grpSpPr>
          <a:xfrm>
            <a:off x="6677731" y="4907620"/>
            <a:ext cx="5118693" cy="2816871"/>
            <a:chOff x="0" y="0"/>
            <a:chExt cx="1348133" cy="741892"/>
          </a:xfrm>
        </p:grpSpPr>
        <p:sp>
          <p:nvSpPr>
            <p:cNvPr id="14" name="Freeform 14"/>
            <p:cNvSpPr/>
            <p:nvPr/>
          </p:nvSpPr>
          <p:spPr>
            <a:xfrm>
              <a:off x="0" y="0"/>
              <a:ext cx="1348133" cy="741892"/>
            </a:xfrm>
            <a:custGeom>
              <a:avLst/>
              <a:gdLst/>
              <a:ahLst/>
              <a:cxnLst/>
              <a:rect l="l" t="t" r="r" b="b"/>
              <a:pathLst>
                <a:path w="1348133" h="741892">
                  <a:moveTo>
                    <a:pt x="77136" y="0"/>
                  </a:moveTo>
                  <a:lnTo>
                    <a:pt x="1270997" y="0"/>
                  </a:lnTo>
                  <a:cubicBezTo>
                    <a:pt x="1291454" y="0"/>
                    <a:pt x="1311074" y="8127"/>
                    <a:pt x="1325540" y="22593"/>
                  </a:cubicBezTo>
                  <a:cubicBezTo>
                    <a:pt x="1340006" y="37059"/>
                    <a:pt x="1348133" y="56679"/>
                    <a:pt x="1348133" y="77136"/>
                  </a:cubicBezTo>
                  <a:lnTo>
                    <a:pt x="1348133" y="664755"/>
                  </a:lnTo>
                  <a:cubicBezTo>
                    <a:pt x="1348133" y="685213"/>
                    <a:pt x="1340006" y="704833"/>
                    <a:pt x="1325540" y="719299"/>
                  </a:cubicBezTo>
                  <a:cubicBezTo>
                    <a:pt x="1311074" y="733765"/>
                    <a:pt x="1291454" y="741892"/>
                    <a:pt x="1270997" y="741892"/>
                  </a:cubicBezTo>
                  <a:lnTo>
                    <a:pt x="77136" y="741892"/>
                  </a:lnTo>
                  <a:cubicBezTo>
                    <a:pt x="56679" y="741892"/>
                    <a:pt x="37059" y="733765"/>
                    <a:pt x="22593" y="719299"/>
                  </a:cubicBezTo>
                  <a:cubicBezTo>
                    <a:pt x="8127" y="704833"/>
                    <a:pt x="0" y="685213"/>
                    <a:pt x="0" y="664755"/>
                  </a:cubicBezTo>
                  <a:lnTo>
                    <a:pt x="0" y="77136"/>
                  </a:lnTo>
                  <a:cubicBezTo>
                    <a:pt x="0" y="56679"/>
                    <a:pt x="8127" y="37059"/>
                    <a:pt x="22593" y="22593"/>
                  </a:cubicBezTo>
                  <a:cubicBezTo>
                    <a:pt x="37059" y="8127"/>
                    <a:pt x="56679" y="0"/>
                    <a:pt x="77136" y="0"/>
                  </a:cubicBezTo>
                  <a:close/>
                </a:path>
              </a:pathLst>
            </a:custGeom>
            <a:solidFill>
              <a:srgbClr val="DAE3FF"/>
            </a:solidFill>
            <a:ln cap="rnd">
              <a:noFill/>
              <a:prstDash val="solid"/>
              <a:round/>
            </a:ln>
          </p:spPr>
          <p:txBody>
            <a:bodyPr/>
            <a:lstStyle/>
            <a:p>
              <a:endParaRPr lang="en-US"/>
            </a:p>
          </p:txBody>
        </p:sp>
        <p:sp>
          <p:nvSpPr>
            <p:cNvPr id="15" name="TextBox 15"/>
            <p:cNvSpPr txBox="1"/>
            <p:nvPr/>
          </p:nvSpPr>
          <p:spPr>
            <a:xfrm>
              <a:off x="0" y="-57150"/>
              <a:ext cx="1348133" cy="799042"/>
            </a:xfrm>
            <a:prstGeom prst="rect">
              <a:avLst/>
            </a:prstGeom>
          </p:spPr>
          <p:txBody>
            <a:bodyPr lIns="50800" tIns="50800" rIns="50800" bIns="50800" rtlCol="0" anchor="ctr"/>
            <a:lstStyle/>
            <a:p>
              <a:pPr algn="ctr">
                <a:lnSpc>
                  <a:spcPts val="2786"/>
                </a:lnSpc>
              </a:pPr>
              <a:endParaRPr/>
            </a:p>
          </p:txBody>
        </p:sp>
      </p:grpSp>
      <p:grpSp>
        <p:nvGrpSpPr>
          <p:cNvPr id="16" name="Group 16"/>
          <p:cNvGrpSpPr/>
          <p:nvPr/>
        </p:nvGrpSpPr>
        <p:grpSpPr>
          <a:xfrm>
            <a:off x="12419996" y="4907620"/>
            <a:ext cx="5011659" cy="2293596"/>
            <a:chOff x="0" y="0"/>
            <a:chExt cx="1319943" cy="604075"/>
          </a:xfrm>
        </p:grpSpPr>
        <p:sp>
          <p:nvSpPr>
            <p:cNvPr id="17" name="Freeform 17"/>
            <p:cNvSpPr/>
            <p:nvPr/>
          </p:nvSpPr>
          <p:spPr>
            <a:xfrm>
              <a:off x="0" y="0"/>
              <a:ext cx="1319943" cy="604075"/>
            </a:xfrm>
            <a:custGeom>
              <a:avLst/>
              <a:gdLst/>
              <a:ahLst/>
              <a:cxnLst/>
              <a:rect l="l" t="t" r="r" b="b"/>
              <a:pathLst>
                <a:path w="1319943" h="604075">
                  <a:moveTo>
                    <a:pt x="78784" y="0"/>
                  </a:moveTo>
                  <a:lnTo>
                    <a:pt x="1241159" y="0"/>
                  </a:lnTo>
                  <a:cubicBezTo>
                    <a:pt x="1284670" y="0"/>
                    <a:pt x="1319943" y="35273"/>
                    <a:pt x="1319943" y="78784"/>
                  </a:cubicBezTo>
                  <a:lnTo>
                    <a:pt x="1319943" y="525291"/>
                  </a:lnTo>
                  <a:cubicBezTo>
                    <a:pt x="1319943" y="546186"/>
                    <a:pt x="1311643" y="566225"/>
                    <a:pt x="1296868" y="581000"/>
                  </a:cubicBezTo>
                  <a:cubicBezTo>
                    <a:pt x="1282093" y="595774"/>
                    <a:pt x="1262054" y="604075"/>
                    <a:pt x="1241159" y="604075"/>
                  </a:cubicBezTo>
                  <a:lnTo>
                    <a:pt x="78784" y="604075"/>
                  </a:lnTo>
                  <a:cubicBezTo>
                    <a:pt x="57889" y="604075"/>
                    <a:pt x="37850" y="595774"/>
                    <a:pt x="23075" y="581000"/>
                  </a:cubicBezTo>
                  <a:cubicBezTo>
                    <a:pt x="8300" y="566225"/>
                    <a:pt x="0" y="546186"/>
                    <a:pt x="0" y="525291"/>
                  </a:cubicBezTo>
                  <a:lnTo>
                    <a:pt x="0" y="78784"/>
                  </a:lnTo>
                  <a:cubicBezTo>
                    <a:pt x="0" y="57889"/>
                    <a:pt x="8300" y="37850"/>
                    <a:pt x="23075" y="23075"/>
                  </a:cubicBezTo>
                  <a:cubicBezTo>
                    <a:pt x="37850" y="8300"/>
                    <a:pt x="57889" y="0"/>
                    <a:pt x="78784" y="0"/>
                  </a:cubicBezTo>
                  <a:close/>
                </a:path>
              </a:pathLst>
            </a:custGeom>
            <a:solidFill>
              <a:srgbClr val="DAE3FF"/>
            </a:solidFill>
            <a:ln cap="rnd">
              <a:noFill/>
              <a:prstDash val="solid"/>
              <a:round/>
            </a:ln>
          </p:spPr>
          <p:txBody>
            <a:bodyPr/>
            <a:lstStyle/>
            <a:p>
              <a:endParaRPr lang="en-US"/>
            </a:p>
          </p:txBody>
        </p:sp>
        <p:sp>
          <p:nvSpPr>
            <p:cNvPr id="18" name="TextBox 18"/>
            <p:cNvSpPr txBox="1"/>
            <p:nvPr/>
          </p:nvSpPr>
          <p:spPr>
            <a:xfrm>
              <a:off x="0" y="-57150"/>
              <a:ext cx="1319943" cy="661225"/>
            </a:xfrm>
            <a:prstGeom prst="rect">
              <a:avLst/>
            </a:prstGeom>
          </p:spPr>
          <p:txBody>
            <a:bodyPr lIns="50800" tIns="50800" rIns="50800" bIns="50800" rtlCol="0" anchor="ctr"/>
            <a:lstStyle/>
            <a:p>
              <a:pPr algn="ctr">
                <a:lnSpc>
                  <a:spcPts val="2786"/>
                </a:lnSpc>
              </a:pPr>
              <a:endParaRPr/>
            </a:p>
          </p:txBody>
        </p:sp>
      </p:grpSp>
      <p:sp>
        <p:nvSpPr>
          <p:cNvPr id="19" name="Freeform 19"/>
          <p:cNvSpPr/>
          <p:nvPr/>
        </p:nvSpPr>
        <p:spPr>
          <a:xfrm rot="1873806">
            <a:off x="14741443" y="7579953"/>
            <a:ext cx="1535688" cy="3356694"/>
          </a:xfrm>
          <a:custGeom>
            <a:avLst/>
            <a:gdLst/>
            <a:ahLst/>
            <a:cxnLst/>
            <a:rect l="l" t="t" r="r" b="b"/>
            <a:pathLst>
              <a:path w="1535688" h="3356694">
                <a:moveTo>
                  <a:pt x="0" y="0"/>
                </a:moveTo>
                <a:lnTo>
                  <a:pt x="1535688" y="0"/>
                </a:lnTo>
                <a:lnTo>
                  <a:pt x="1535688" y="3356694"/>
                </a:lnTo>
                <a:lnTo>
                  <a:pt x="0" y="3356694"/>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0" name="Freeform 20"/>
          <p:cNvSpPr/>
          <p:nvPr/>
        </p:nvSpPr>
        <p:spPr>
          <a:xfrm>
            <a:off x="-315496" y="-416855"/>
            <a:ext cx="4584735" cy="4114800"/>
          </a:xfrm>
          <a:custGeom>
            <a:avLst/>
            <a:gdLst/>
            <a:ahLst/>
            <a:cxnLst/>
            <a:rect l="l" t="t" r="r" b="b"/>
            <a:pathLst>
              <a:path w="4584735" h="4114800">
                <a:moveTo>
                  <a:pt x="0" y="0"/>
                </a:moveTo>
                <a:lnTo>
                  <a:pt x="4584736" y="0"/>
                </a:lnTo>
                <a:lnTo>
                  <a:pt x="4584736" y="4114800"/>
                </a:lnTo>
                <a:lnTo>
                  <a:pt x="0" y="411480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1" name="TextBox 21"/>
          <p:cNvSpPr txBox="1"/>
          <p:nvPr/>
        </p:nvSpPr>
        <p:spPr>
          <a:xfrm>
            <a:off x="1219743" y="5344595"/>
            <a:ext cx="4443108" cy="1342638"/>
          </a:xfrm>
          <a:prstGeom prst="rect">
            <a:avLst/>
          </a:prstGeom>
        </p:spPr>
        <p:txBody>
          <a:bodyPr lIns="0" tIns="0" rIns="0" bIns="0" rtlCol="0" anchor="t">
            <a:spAutoFit/>
          </a:bodyPr>
          <a:lstStyle/>
          <a:p>
            <a:pPr algn="l">
              <a:lnSpc>
                <a:spcPts val="2646"/>
              </a:lnSpc>
              <a:spcBef>
                <a:spcPct val="0"/>
              </a:spcBef>
            </a:pPr>
            <a:r>
              <a:rPr lang="en-US" sz="1890" i="1" spc="-37">
                <a:solidFill>
                  <a:srgbClr val="000000"/>
                </a:solidFill>
                <a:latin typeface="Poppins Italics"/>
                <a:ea typeface="Poppins Italics"/>
                <a:cs typeface="Poppins Italics"/>
                <a:sym typeface="Poppins Italics"/>
              </a:rPr>
              <a:t>In 1960s and 1970s an early computer program were developed called MYCIN, which identified bacterial infection and recommend antibiotics.</a:t>
            </a:r>
          </a:p>
        </p:txBody>
      </p:sp>
      <p:sp>
        <p:nvSpPr>
          <p:cNvPr id="22" name="TextBox 22"/>
          <p:cNvSpPr txBox="1"/>
          <p:nvPr/>
        </p:nvSpPr>
        <p:spPr>
          <a:xfrm>
            <a:off x="7015524" y="5116099"/>
            <a:ext cx="4443108" cy="2342763"/>
          </a:xfrm>
          <a:prstGeom prst="rect">
            <a:avLst/>
          </a:prstGeom>
        </p:spPr>
        <p:txBody>
          <a:bodyPr lIns="0" tIns="0" rIns="0" bIns="0" rtlCol="0" anchor="t">
            <a:spAutoFit/>
          </a:bodyPr>
          <a:lstStyle/>
          <a:p>
            <a:pPr algn="l">
              <a:lnSpc>
                <a:spcPts val="2646"/>
              </a:lnSpc>
              <a:spcBef>
                <a:spcPct val="0"/>
              </a:spcBef>
            </a:pPr>
            <a:r>
              <a:rPr lang="en-US" sz="1890" i="1" spc="-37">
                <a:solidFill>
                  <a:srgbClr val="000000"/>
                </a:solidFill>
                <a:latin typeface="Poppins Italics"/>
                <a:ea typeface="Poppins Italics"/>
                <a:cs typeface="Poppins Italics"/>
                <a:sym typeface="Poppins Italics"/>
              </a:rPr>
              <a:t>The development of machine learning algorithms allowed computers to learn from data. With the rise of electronic health records, large databases of patient information became available for analysis.</a:t>
            </a:r>
          </a:p>
        </p:txBody>
      </p:sp>
      <p:sp>
        <p:nvSpPr>
          <p:cNvPr id="23" name="TextBox 23"/>
          <p:cNvSpPr txBox="1"/>
          <p:nvPr/>
        </p:nvSpPr>
        <p:spPr>
          <a:xfrm>
            <a:off x="12794564" y="5344595"/>
            <a:ext cx="4443108" cy="1342638"/>
          </a:xfrm>
          <a:prstGeom prst="rect">
            <a:avLst/>
          </a:prstGeom>
        </p:spPr>
        <p:txBody>
          <a:bodyPr lIns="0" tIns="0" rIns="0" bIns="0" rtlCol="0" anchor="t">
            <a:spAutoFit/>
          </a:bodyPr>
          <a:lstStyle/>
          <a:p>
            <a:pPr algn="l">
              <a:lnSpc>
                <a:spcPts val="2646"/>
              </a:lnSpc>
              <a:spcBef>
                <a:spcPct val="0"/>
              </a:spcBef>
            </a:pPr>
            <a:r>
              <a:rPr lang="en-US" sz="1890" i="1" spc="-37">
                <a:solidFill>
                  <a:srgbClr val="000000"/>
                </a:solidFill>
                <a:latin typeface="Poppins Italics"/>
                <a:ea typeface="Poppins Italics"/>
                <a:cs typeface="Poppins Italics"/>
                <a:sym typeface="Poppins Italics"/>
              </a:rPr>
              <a:t>Deep Learning models can now help analyze complex patterns in images, particulary useful for X-rays, CT scans and MRIs.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913315" y="-756372"/>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2"/>
            <a:stretch>
              <a:fillRect/>
            </a:stretch>
          </a:blipFill>
        </p:spPr>
        <p:txBody>
          <a:bodyPr/>
          <a:lstStyle/>
          <a:p>
            <a:endParaRPr lang="en-US"/>
          </a:p>
        </p:txBody>
      </p:sp>
      <p:sp>
        <p:nvSpPr>
          <p:cNvPr id="3" name="Freeform 3"/>
          <p:cNvSpPr/>
          <p:nvPr/>
        </p:nvSpPr>
        <p:spPr>
          <a:xfrm>
            <a:off x="-2226026" y="2646600"/>
            <a:ext cx="8405795" cy="8229600"/>
          </a:xfrm>
          <a:custGeom>
            <a:avLst/>
            <a:gdLst/>
            <a:ahLst/>
            <a:cxnLst/>
            <a:rect l="l" t="t" r="r" b="b"/>
            <a:pathLst>
              <a:path w="8405795" h="8229600">
                <a:moveTo>
                  <a:pt x="0" y="0"/>
                </a:moveTo>
                <a:lnTo>
                  <a:pt x="8405796" y="0"/>
                </a:lnTo>
                <a:lnTo>
                  <a:pt x="8405796" y="8229600"/>
                </a:lnTo>
                <a:lnTo>
                  <a:pt x="0" y="8229600"/>
                </a:lnTo>
                <a:lnTo>
                  <a:pt x="0" y="0"/>
                </a:lnTo>
                <a:close/>
              </a:path>
            </a:pathLst>
          </a:custGeom>
          <a:blipFill>
            <a:blip r:embed="rId2"/>
            <a:stretch>
              <a:fillRect/>
            </a:stretch>
          </a:blipFill>
        </p:spPr>
        <p:txBody>
          <a:bodyPr/>
          <a:lstStyle/>
          <a:p>
            <a:endParaRPr lang="en-US"/>
          </a:p>
        </p:txBody>
      </p:sp>
      <p:sp>
        <p:nvSpPr>
          <p:cNvPr id="4" name="Freeform 4"/>
          <p:cNvSpPr/>
          <p:nvPr/>
        </p:nvSpPr>
        <p:spPr>
          <a:xfrm>
            <a:off x="-1326401" y="6761400"/>
            <a:ext cx="3095205" cy="3087467"/>
          </a:xfrm>
          <a:custGeom>
            <a:avLst/>
            <a:gdLst/>
            <a:ahLst/>
            <a:cxnLst/>
            <a:rect l="l" t="t" r="r" b="b"/>
            <a:pathLst>
              <a:path w="3095205" h="3087467">
                <a:moveTo>
                  <a:pt x="0" y="0"/>
                </a:moveTo>
                <a:lnTo>
                  <a:pt x="3095205" y="0"/>
                </a:lnTo>
                <a:lnTo>
                  <a:pt x="3095205" y="3087467"/>
                </a:lnTo>
                <a:lnTo>
                  <a:pt x="0" y="308746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6555686" y="399488"/>
            <a:ext cx="3156157" cy="3148266"/>
          </a:xfrm>
          <a:custGeom>
            <a:avLst/>
            <a:gdLst/>
            <a:ahLst/>
            <a:cxnLst/>
            <a:rect l="l" t="t" r="r" b="b"/>
            <a:pathLst>
              <a:path w="3156157" h="3148266">
                <a:moveTo>
                  <a:pt x="0" y="0"/>
                </a:moveTo>
                <a:lnTo>
                  <a:pt x="3156156" y="0"/>
                </a:lnTo>
                <a:lnTo>
                  <a:pt x="3156156" y="3148266"/>
                </a:lnTo>
                <a:lnTo>
                  <a:pt x="0" y="31482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2077569" y="-2270488"/>
            <a:ext cx="4597542" cy="4114800"/>
          </a:xfrm>
          <a:custGeom>
            <a:avLst/>
            <a:gdLst/>
            <a:ahLst/>
            <a:cxnLst/>
            <a:rect l="l" t="t" r="r" b="b"/>
            <a:pathLst>
              <a:path w="4597542" h="4114800">
                <a:moveTo>
                  <a:pt x="0" y="0"/>
                </a:moveTo>
                <a:lnTo>
                  <a:pt x="4597542" y="0"/>
                </a:lnTo>
                <a:lnTo>
                  <a:pt x="459754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5698618" y="8406361"/>
            <a:ext cx="4597542" cy="4114800"/>
          </a:xfrm>
          <a:custGeom>
            <a:avLst/>
            <a:gdLst/>
            <a:ahLst/>
            <a:cxnLst/>
            <a:rect l="l" t="t" r="r" b="b"/>
            <a:pathLst>
              <a:path w="4597542" h="4114800">
                <a:moveTo>
                  <a:pt x="0" y="0"/>
                </a:moveTo>
                <a:lnTo>
                  <a:pt x="4597542" y="0"/>
                </a:lnTo>
                <a:lnTo>
                  <a:pt x="459754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8"/>
          <p:cNvSpPr txBox="1"/>
          <p:nvPr/>
        </p:nvSpPr>
        <p:spPr>
          <a:xfrm>
            <a:off x="2925044" y="4072290"/>
            <a:ext cx="12613945" cy="2399596"/>
          </a:xfrm>
          <a:prstGeom prst="rect">
            <a:avLst/>
          </a:prstGeom>
        </p:spPr>
        <p:txBody>
          <a:bodyPr lIns="0" tIns="0" rIns="0" bIns="0" rtlCol="0" anchor="t">
            <a:spAutoFit/>
          </a:bodyPr>
          <a:lstStyle/>
          <a:p>
            <a:pPr algn="ctr">
              <a:lnSpc>
                <a:spcPts val="9169"/>
              </a:lnSpc>
            </a:pPr>
            <a:r>
              <a:rPr lang="en-US" sz="9859">
                <a:solidFill>
                  <a:srgbClr val="7C8CBF"/>
                </a:solidFill>
                <a:latin typeface="Rubik One"/>
                <a:ea typeface="Rubik One"/>
                <a:cs typeface="Rubik One"/>
                <a:sym typeface="Rubik One"/>
              </a:rPr>
              <a:t>APPLICATIONS OF AI IN MEDICINE</a:t>
            </a:r>
          </a:p>
        </p:txBody>
      </p:sp>
      <p:grpSp>
        <p:nvGrpSpPr>
          <p:cNvPr id="9" name="Group 9"/>
          <p:cNvGrpSpPr/>
          <p:nvPr/>
        </p:nvGrpSpPr>
        <p:grpSpPr>
          <a:xfrm>
            <a:off x="5083296" y="7058482"/>
            <a:ext cx="8121408" cy="64743"/>
            <a:chOff x="0" y="0"/>
            <a:chExt cx="2138972" cy="17052"/>
          </a:xfrm>
        </p:grpSpPr>
        <p:sp>
          <p:nvSpPr>
            <p:cNvPr id="10" name="Freeform 10"/>
            <p:cNvSpPr/>
            <p:nvPr/>
          </p:nvSpPr>
          <p:spPr>
            <a:xfrm>
              <a:off x="0" y="0"/>
              <a:ext cx="2138972" cy="17052"/>
            </a:xfrm>
            <a:custGeom>
              <a:avLst/>
              <a:gdLst/>
              <a:ahLst/>
              <a:cxnLst/>
              <a:rect l="l" t="t" r="r" b="b"/>
              <a:pathLst>
                <a:path w="2138972" h="17052">
                  <a:moveTo>
                    <a:pt x="8526" y="0"/>
                  </a:moveTo>
                  <a:lnTo>
                    <a:pt x="2130446" y="0"/>
                  </a:lnTo>
                  <a:cubicBezTo>
                    <a:pt x="2135155" y="0"/>
                    <a:pt x="2138972" y="3817"/>
                    <a:pt x="2138972" y="8526"/>
                  </a:cubicBezTo>
                  <a:lnTo>
                    <a:pt x="2138972" y="8526"/>
                  </a:lnTo>
                  <a:cubicBezTo>
                    <a:pt x="2138972" y="13234"/>
                    <a:pt x="2135155" y="17052"/>
                    <a:pt x="2130446" y="17052"/>
                  </a:cubicBezTo>
                  <a:lnTo>
                    <a:pt x="8526" y="17052"/>
                  </a:lnTo>
                  <a:cubicBezTo>
                    <a:pt x="3817" y="17052"/>
                    <a:pt x="0" y="13234"/>
                    <a:pt x="0" y="8526"/>
                  </a:cubicBezTo>
                  <a:lnTo>
                    <a:pt x="0" y="8526"/>
                  </a:lnTo>
                  <a:cubicBezTo>
                    <a:pt x="0" y="3817"/>
                    <a:pt x="3817" y="0"/>
                    <a:pt x="8526" y="0"/>
                  </a:cubicBezTo>
                  <a:close/>
                </a:path>
              </a:pathLst>
            </a:custGeom>
            <a:solidFill>
              <a:srgbClr val="7C8CBF"/>
            </a:solidFill>
          </p:spPr>
          <p:txBody>
            <a:bodyPr/>
            <a:lstStyle/>
            <a:p>
              <a:endParaRPr lang="en-US"/>
            </a:p>
          </p:txBody>
        </p:sp>
        <p:sp>
          <p:nvSpPr>
            <p:cNvPr id="11" name="TextBox 11"/>
            <p:cNvSpPr txBox="1"/>
            <p:nvPr/>
          </p:nvSpPr>
          <p:spPr>
            <a:xfrm>
              <a:off x="0" y="-57150"/>
              <a:ext cx="2138972" cy="74202"/>
            </a:xfrm>
            <a:prstGeom prst="rect">
              <a:avLst/>
            </a:prstGeom>
          </p:spPr>
          <p:txBody>
            <a:bodyPr lIns="50800" tIns="50800" rIns="50800" bIns="50800" rtlCol="0" anchor="ctr"/>
            <a:lstStyle/>
            <a:p>
              <a:pPr algn="ctr">
                <a:lnSpc>
                  <a:spcPts val="2786"/>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15009" y="6262929"/>
            <a:ext cx="5280350" cy="605389"/>
            <a:chOff x="0" y="0"/>
            <a:chExt cx="812800" cy="93187"/>
          </a:xfrm>
        </p:grpSpPr>
        <p:sp>
          <p:nvSpPr>
            <p:cNvPr id="3" name="Freeform 3"/>
            <p:cNvSpPr/>
            <p:nvPr/>
          </p:nvSpPr>
          <p:spPr>
            <a:xfrm>
              <a:off x="0" y="0"/>
              <a:ext cx="812800" cy="93187"/>
            </a:xfrm>
            <a:custGeom>
              <a:avLst/>
              <a:gdLst/>
              <a:ahLst/>
              <a:cxnLst/>
              <a:rect l="l" t="t" r="r" b="b"/>
              <a:pathLst>
                <a:path w="812800" h="93187">
                  <a:moveTo>
                    <a:pt x="406400" y="0"/>
                  </a:moveTo>
                  <a:cubicBezTo>
                    <a:pt x="181951" y="0"/>
                    <a:pt x="0" y="20861"/>
                    <a:pt x="0" y="46594"/>
                  </a:cubicBezTo>
                  <a:cubicBezTo>
                    <a:pt x="0" y="72326"/>
                    <a:pt x="181951" y="93187"/>
                    <a:pt x="406400" y="93187"/>
                  </a:cubicBezTo>
                  <a:cubicBezTo>
                    <a:pt x="630849" y="93187"/>
                    <a:pt x="812800" y="72326"/>
                    <a:pt x="812800" y="46594"/>
                  </a:cubicBezTo>
                  <a:cubicBezTo>
                    <a:pt x="812800" y="20861"/>
                    <a:pt x="630849" y="0"/>
                    <a:pt x="406400" y="0"/>
                  </a:cubicBezTo>
                  <a:close/>
                </a:path>
              </a:pathLst>
            </a:custGeom>
            <a:solidFill>
              <a:srgbClr val="566186"/>
            </a:solidFill>
          </p:spPr>
          <p:txBody>
            <a:bodyPr/>
            <a:lstStyle/>
            <a:p>
              <a:endParaRPr lang="en-US"/>
            </a:p>
          </p:txBody>
        </p:sp>
        <p:sp>
          <p:nvSpPr>
            <p:cNvPr id="4" name="TextBox 4"/>
            <p:cNvSpPr txBox="1"/>
            <p:nvPr/>
          </p:nvSpPr>
          <p:spPr>
            <a:xfrm>
              <a:off x="76200" y="-48414"/>
              <a:ext cx="660400" cy="132865"/>
            </a:xfrm>
            <a:prstGeom prst="rect">
              <a:avLst/>
            </a:prstGeom>
          </p:spPr>
          <p:txBody>
            <a:bodyPr lIns="50800" tIns="50800" rIns="50800" bIns="50800" rtlCol="0" anchor="ctr"/>
            <a:lstStyle/>
            <a:p>
              <a:pPr algn="ctr">
                <a:lnSpc>
                  <a:spcPts val="2786"/>
                </a:lnSpc>
              </a:pPr>
              <a:endParaRPr/>
            </a:p>
          </p:txBody>
        </p:sp>
      </p:grpSp>
      <p:sp>
        <p:nvSpPr>
          <p:cNvPr id="5" name="Freeform 5"/>
          <p:cNvSpPr/>
          <p:nvPr/>
        </p:nvSpPr>
        <p:spPr>
          <a:xfrm>
            <a:off x="-5040628" y="-1528460"/>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2"/>
            <a:stretch>
              <a:fillRect/>
            </a:stretch>
          </a:blipFill>
        </p:spPr>
        <p:txBody>
          <a:bodyPr/>
          <a:lstStyle/>
          <a:p>
            <a:endParaRPr lang="en-US"/>
          </a:p>
        </p:txBody>
      </p:sp>
      <p:sp>
        <p:nvSpPr>
          <p:cNvPr id="6" name="Freeform 6"/>
          <p:cNvSpPr/>
          <p:nvPr/>
        </p:nvSpPr>
        <p:spPr>
          <a:xfrm>
            <a:off x="-1070890" y="-366082"/>
            <a:ext cx="3095205" cy="3087467"/>
          </a:xfrm>
          <a:custGeom>
            <a:avLst/>
            <a:gdLst/>
            <a:ahLst/>
            <a:cxnLst/>
            <a:rect l="l" t="t" r="r" b="b"/>
            <a:pathLst>
              <a:path w="3095205" h="3087467">
                <a:moveTo>
                  <a:pt x="0" y="0"/>
                </a:moveTo>
                <a:lnTo>
                  <a:pt x="3095204" y="0"/>
                </a:lnTo>
                <a:lnTo>
                  <a:pt x="3095204" y="3087466"/>
                </a:lnTo>
                <a:lnTo>
                  <a:pt x="0" y="30874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16614151" y="7837770"/>
            <a:ext cx="3156157" cy="3148266"/>
          </a:xfrm>
          <a:custGeom>
            <a:avLst/>
            <a:gdLst/>
            <a:ahLst/>
            <a:cxnLst/>
            <a:rect l="l" t="t" r="r" b="b"/>
            <a:pathLst>
              <a:path w="3156157" h="3148266">
                <a:moveTo>
                  <a:pt x="0" y="0"/>
                </a:moveTo>
                <a:lnTo>
                  <a:pt x="3156156" y="0"/>
                </a:lnTo>
                <a:lnTo>
                  <a:pt x="3156156" y="3148266"/>
                </a:lnTo>
                <a:lnTo>
                  <a:pt x="0" y="31482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a:off x="15454051" y="-2816751"/>
            <a:ext cx="5476355" cy="4901338"/>
          </a:xfrm>
          <a:custGeom>
            <a:avLst/>
            <a:gdLst/>
            <a:ahLst/>
            <a:cxnLst/>
            <a:rect l="l" t="t" r="r" b="b"/>
            <a:pathLst>
              <a:path w="5476355" h="4901338">
                <a:moveTo>
                  <a:pt x="0" y="0"/>
                </a:moveTo>
                <a:lnTo>
                  <a:pt x="5476355" y="0"/>
                </a:lnTo>
                <a:lnTo>
                  <a:pt x="5476355" y="4901337"/>
                </a:lnTo>
                <a:lnTo>
                  <a:pt x="0" y="490133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a:off x="-1848757" y="7996502"/>
            <a:ext cx="5213924" cy="4666462"/>
          </a:xfrm>
          <a:custGeom>
            <a:avLst/>
            <a:gdLst/>
            <a:ahLst/>
            <a:cxnLst/>
            <a:rect l="l" t="t" r="r" b="b"/>
            <a:pathLst>
              <a:path w="5213924" h="4666462">
                <a:moveTo>
                  <a:pt x="0" y="0"/>
                </a:moveTo>
                <a:lnTo>
                  <a:pt x="5213924" y="0"/>
                </a:lnTo>
                <a:lnTo>
                  <a:pt x="5213924" y="4666462"/>
                </a:lnTo>
                <a:lnTo>
                  <a:pt x="0" y="466646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0" name="Group 10"/>
          <p:cNvGrpSpPr/>
          <p:nvPr/>
        </p:nvGrpSpPr>
        <p:grpSpPr>
          <a:xfrm>
            <a:off x="2024314" y="7498207"/>
            <a:ext cx="14001470" cy="1275525"/>
            <a:chOff x="0" y="0"/>
            <a:chExt cx="3687630" cy="335941"/>
          </a:xfrm>
        </p:grpSpPr>
        <p:sp>
          <p:nvSpPr>
            <p:cNvPr id="11" name="Freeform 11"/>
            <p:cNvSpPr/>
            <p:nvPr/>
          </p:nvSpPr>
          <p:spPr>
            <a:xfrm>
              <a:off x="0" y="0"/>
              <a:ext cx="3687630" cy="335941"/>
            </a:xfrm>
            <a:custGeom>
              <a:avLst/>
              <a:gdLst/>
              <a:ahLst/>
              <a:cxnLst/>
              <a:rect l="l" t="t" r="r" b="b"/>
              <a:pathLst>
                <a:path w="3687630" h="335941">
                  <a:moveTo>
                    <a:pt x="28200" y="0"/>
                  </a:moveTo>
                  <a:lnTo>
                    <a:pt x="3659430" y="0"/>
                  </a:lnTo>
                  <a:cubicBezTo>
                    <a:pt x="3666909" y="0"/>
                    <a:pt x="3674082" y="2971"/>
                    <a:pt x="3679370" y="8260"/>
                  </a:cubicBezTo>
                  <a:cubicBezTo>
                    <a:pt x="3684659" y="13548"/>
                    <a:pt x="3687630" y="20721"/>
                    <a:pt x="3687630" y="28200"/>
                  </a:cubicBezTo>
                  <a:lnTo>
                    <a:pt x="3687630" y="307741"/>
                  </a:lnTo>
                  <a:cubicBezTo>
                    <a:pt x="3687630" y="323315"/>
                    <a:pt x="3675004" y="335941"/>
                    <a:pt x="3659430" y="335941"/>
                  </a:cubicBezTo>
                  <a:lnTo>
                    <a:pt x="28200" y="335941"/>
                  </a:lnTo>
                  <a:cubicBezTo>
                    <a:pt x="20721" y="335941"/>
                    <a:pt x="13548" y="332970"/>
                    <a:pt x="8260" y="327681"/>
                  </a:cubicBezTo>
                  <a:cubicBezTo>
                    <a:pt x="2971" y="322393"/>
                    <a:pt x="0" y="315220"/>
                    <a:pt x="0" y="307741"/>
                  </a:cubicBezTo>
                  <a:lnTo>
                    <a:pt x="0" y="28200"/>
                  </a:lnTo>
                  <a:cubicBezTo>
                    <a:pt x="0" y="20721"/>
                    <a:pt x="2971" y="13548"/>
                    <a:pt x="8260" y="8260"/>
                  </a:cubicBezTo>
                  <a:cubicBezTo>
                    <a:pt x="13548" y="2971"/>
                    <a:pt x="20721" y="0"/>
                    <a:pt x="28200" y="0"/>
                  </a:cubicBezTo>
                  <a:close/>
                </a:path>
              </a:pathLst>
            </a:custGeom>
            <a:solidFill>
              <a:srgbClr val="DAE3FF"/>
            </a:solidFill>
          </p:spPr>
          <p:txBody>
            <a:bodyPr/>
            <a:lstStyle/>
            <a:p>
              <a:endParaRPr lang="en-US"/>
            </a:p>
          </p:txBody>
        </p:sp>
        <p:sp>
          <p:nvSpPr>
            <p:cNvPr id="12" name="TextBox 12"/>
            <p:cNvSpPr txBox="1"/>
            <p:nvPr/>
          </p:nvSpPr>
          <p:spPr>
            <a:xfrm>
              <a:off x="0" y="-57150"/>
              <a:ext cx="3687630" cy="393091"/>
            </a:xfrm>
            <a:prstGeom prst="rect">
              <a:avLst/>
            </a:prstGeom>
          </p:spPr>
          <p:txBody>
            <a:bodyPr lIns="50800" tIns="50800" rIns="50800" bIns="50800" rtlCol="0" anchor="ctr"/>
            <a:lstStyle/>
            <a:p>
              <a:pPr algn="ctr">
                <a:lnSpc>
                  <a:spcPts val="2786"/>
                </a:lnSpc>
              </a:pPr>
              <a:r>
                <a:rPr lang="en-US" sz="1990" b="1">
                  <a:solidFill>
                    <a:srgbClr val="000000"/>
                  </a:solidFill>
                  <a:latin typeface="Poppins Medium"/>
                  <a:ea typeface="Poppins Medium"/>
                  <a:cs typeface="Poppins Medium"/>
                  <a:sym typeface="Poppins Medium"/>
                </a:rPr>
                <a:t>In a new study by UCLA Health Jonsson Comprehensive Cancer Center, suggests that AI could help detect interval breast cancers-those that develop between routine screenings. They estimated incorporating AI into screening could help reduce number of interval breast cancer by 30%. </a:t>
              </a:r>
            </a:p>
          </p:txBody>
        </p:sp>
      </p:grpSp>
      <p:sp>
        <p:nvSpPr>
          <p:cNvPr id="13" name="Freeform 13"/>
          <p:cNvSpPr/>
          <p:nvPr/>
        </p:nvSpPr>
        <p:spPr>
          <a:xfrm>
            <a:off x="3705239" y="2260169"/>
            <a:ext cx="4093102" cy="4383510"/>
          </a:xfrm>
          <a:custGeom>
            <a:avLst/>
            <a:gdLst/>
            <a:ahLst/>
            <a:cxnLst/>
            <a:rect l="l" t="t" r="r" b="b"/>
            <a:pathLst>
              <a:path w="4093102" h="4383510">
                <a:moveTo>
                  <a:pt x="0" y="0"/>
                </a:moveTo>
                <a:lnTo>
                  <a:pt x="4093102" y="0"/>
                </a:lnTo>
                <a:lnTo>
                  <a:pt x="4093102" y="4383509"/>
                </a:lnTo>
                <a:lnTo>
                  <a:pt x="0" y="4383509"/>
                </a:lnTo>
                <a:lnTo>
                  <a:pt x="0" y="0"/>
                </a:lnTo>
                <a:close/>
              </a:path>
            </a:pathLst>
          </a:custGeom>
          <a:blipFill>
            <a:blip r:embed="rId6"/>
            <a:stretch>
              <a:fillRect/>
            </a:stretch>
          </a:blipFill>
        </p:spPr>
        <p:txBody>
          <a:bodyPr/>
          <a:lstStyle/>
          <a:p>
            <a:endParaRPr lang="en-US"/>
          </a:p>
        </p:txBody>
      </p:sp>
      <p:sp>
        <p:nvSpPr>
          <p:cNvPr id="14" name="TextBox 14"/>
          <p:cNvSpPr txBox="1"/>
          <p:nvPr/>
        </p:nvSpPr>
        <p:spPr>
          <a:xfrm>
            <a:off x="8489578" y="3160465"/>
            <a:ext cx="7527349" cy="2113602"/>
          </a:xfrm>
          <a:prstGeom prst="rect">
            <a:avLst/>
          </a:prstGeom>
        </p:spPr>
        <p:txBody>
          <a:bodyPr lIns="0" tIns="0" rIns="0" bIns="0" rtlCol="0" anchor="t">
            <a:spAutoFit/>
          </a:bodyPr>
          <a:lstStyle/>
          <a:p>
            <a:pPr algn="r">
              <a:lnSpc>
                <a:spcPts val="5471"/>
              </a:lnSpc>
            </a:pPr>
            <a:r>
              <a:rPr lang="en-US" sz="5883">
                <a:solidFill>
                  <a:srgbClr val="566186"/>
                </a:solidFill>
                <a:latin typeface="Rubik One"/>
                <a:ea typeface="Rubik One"/>
                <a:cs typeface="Rubik One"/>
                <a:sym typeface="Rubik One"/>
              </a:rPr>
              <a:t>FAST DIAGNOSIS AND EARLY TREATMENT</a:t>
            </a:r>
          </a:p>
        </p:txBody>
      </p:sp>
      <p:sp>
        <p:nvSpPr>
          <p:cNvPr id="15" name="TextBox 15"/>
          <p:cNvSpPr txBox="1"/>
          <p:nvPr/>
        </p:nvSpPr>
        <p:spPr>
          <a:xfrm>
            <a:off x="9941247" y="5452020"/>
            <a:ext cx="6084538" cy="1768723"/>
          </a:xfrm>
          <a:prstGeom prst="rect">
            <a:avLst/>
          </a:prstGeom>
        </p:spPr>
        <p:txBody>
          <a:bodyPr lIns="0" tIns="0" rIns="0" bIns="0" rtlCol="0" anchor="t">
            <a:spAutoFit/>
          </a:bodyPr>
          <a:lstStyle/>
          <a:p>
            <a:pPr algn="r">
              <a:lnSpc>
                <a:spcPts val="2786"/>
              </a:lnSpc>
              <a:spcBef>
                <a:spcPct val="0"/>
              </a:spcBef>
            </a:pPr>
            <a:r>
              <a:rPr lang="en-US" sz="1990" spc="-39">
                <a:solidFill>
                  <a:srgbClr val="000000"/>
                </a:solidFill>
                <a:latin typeface="Poppins"/>
                <a:ea typeface="Poppins"/>
                <a:cs typeface="Poppins"/>
                <a:sym typeface="Poppins"/>
              </a:rPr>
              <a:t>AI systems can analyze medical data and help physicians detect diseases earlier and more accurately. Early detection is critical because it allows doctors to begin treatment sooner and improve patient outcomes.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562734" y="-824016"/>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2"/>
            <a:stretch>
              <a:fillRect/>
            </a:stretch>
          </a:blipFill>
        </p:spPr>
        <p:txBody>
          <a:bodyPr/>
          <a:lstStyle/>
          <a:p>
            <a:endParaRPr lang="en-US"/>
          </a:p>
        </p:txBody>
      </p:sp>
      <p:sp>
        <p:nvSpPr>
          <p:cNvPr id="3" name="Freeform 3"/>
          <p:cNvSpPr/>
          <p:nvPr/>
        </p:nvSpPr>
        <p:spPr>
          <a:xfrm>
            <a:off x="-5738632" y="1863328"/>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2"/>
            <a:stretch>
              <a:fillRect/>
            </a:stretch>
          </a:blipFill>
        </p:spPr>
        <p:txBody>
          <a:bodyPr/>
          <a:lstStyle/>
          <a:p>
            <a:endParaRPr lang="en-US"/>
          </a:p>
        </p:txBody>
      </p:sp>
      <p:sp>
        <p:nvSpPr>
          <p:cNvPr id="4" name="Freeform 4"/>
          <p:cNvSpPr/>
          <p:nvPr/>
        </p:nvSpPr>
        <p:spPr>
          <a:xfrm>
            <a:off x="16218029" y="-515033"/>
            <a:ext cx="3095205" cy="3087467"/>
          </a:xfrm>
          <a:custGeom>
            <a:avLst/>
            <a:gdLst/>
            <a:ahLst/>
            <a:cxnLst/>
            <a:rect l="l" t="t" r="r" b="b"/>
            <a:pathLst>
              <a:path w="3095205" h="3087467">
                <a:moveTo>
                  <a:pt x="0" y="0"/>
                </a:moveTo>
                <a:lnTo>
                  <a:pt x="3095204" y="0"/>
                </a:lnTo>
                <a:lnTo>
                  <a:pt x="3095204" y="3087466"/>
                </a:lnTo>
                <a:lnTo>
                  <a:pt x="0" y="30874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179285" y="8406361"/>
            <a:ext cx="3156157" cy="3148266"/>
          </a:xfrm>
          <a:custGeom>
            <a:avLst/>
            <a:gdLst/>
            <a:ahLst/>
            <a:cxnLst/>
            <a:rect l="l" t="t" r="r" b="b"/>
            <a:pathLst>
              <a:path w="3156157" h="3148266">
                <a:moveTo>
                  <a:pt x="0" y="0"/>
                </a:moveTo>
                <a:lnTo>
                  <a:pt x="3156157" y="0"/>
                </a:lnTo>
                <a:lnTo>
                  <a:pt x="3156157" y="3148266"/>
                </a:lnTo>
                <a:lnTo>
                  <a:pt x="0" y="31482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2118325" y="-2587721"/>
            <a:ext cx="5476355" cy="4901338"/>
          </a:xfrm>
          <a:custGeom>
            <a:avLst/>
            <a:gdLst/>
            <a:ahLst/>
            <a:cxnLst/>
            <a:rect l="l" t="t" r="r" b="b"/>
            <a:pathLst>
              <a:path w="5476355" h="4901338">
                <a:moveTo>
                  <a:pt x="0" y="0"/>
                </a:moveTo>
                <a:lnTo>
                  <a:pt x="5476355" y="0"/>
                </a:lnTo>
                <a:lnTo>
                  <a:pt x="5476355" y="4901337"/>
                </a:lnTo>
                <a:lnTo>
                  <a:pt x="0" y="490133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4556383" y="8251998"/>
            <a:ext cx="5213924" cy="4666462"/>
          </a:xfrm>
          <a:custGeom>
            <a:avLst/>
            <a:gdLst/>
            <a:ahLst/>
            <a:cxnLst/>
            <a:rect l="l" t="t" r="r" b="b"/>
            <a:pathLst>
              <a:path w="5213924" h="4666462">
                <a:moveTo>
                  <a:pt x="0" y="0"/>
                </a:moveTo>
                <a:lnTo>
                  <a:pt x="5213924" y="0"/>
                </a:lnTo>
                <a:lnTo>
                  <a:pt x="5213924" y="4666462"/>
                </a:lnTo>
                <a:lnTo>
                  <a:pt x="0" y="466646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a:off x="10432951" y="2923684"/>
            <a:ext cx="5785077" cy="5785077"/>
          </a:xfrm>
          <a:custGeom>
            <a:avLst/>
            <a:gdLst/>
            <a:ahLst/>
            <a:cxnLst/>
            <a:rect l="l" t="t" r="r" b="b"/>
            <a:pathLst>
              <a:path w="5785077" h="5785077">
                <a:moveTo>
                  <a:pt x="0" y="0"/>
                </a:moveTo>
                <a:lnTo>
                  <a:pt x="5785078" y="0"/>
                </a:lnTo>
                <a:lnTo>
                  <a:pt x="5785078" y="5785077"/>
                </a:lnTo>
                <a:lnTo>
                  <a:pt x="0" y="5785077"/>
                </a:lnTo>
                <a:lnTo>
                  <a:pt x="0" y="0"/>
                </a:lnTo>
                <a:close/>
              </a:path>
            </a:pathLst>
          </a:custGeom>
          <a:blipFill>
            <a:blip r:embed="rId6"/>
            <a:stretch>
              <a:fillRect/>
            </a:stretch>
          </a:blipFill>
        </p:spPr>
        <p:txBody>
          <a:bodyPr/>
          <a:lstStyle/>
          <a:p>
            <a:endParaRPr lang="en-US"/>
          </a:p>
        </p:txBody>
      </p:sp>
      <p:sp>
        <p:nvSpPr>
          <p:cNvPr id="9" name="TextBox 9"/>
          <p:cNvSpPr txBox="1"/>
          <p:nvPr/>
        </p:nvSpPr>
        <p:spPr>
          <a:xfrm>
            <a:off x="1768804" y="3085609"/>
            <a:ext cx="8231768" cy="811885"/>
          </a:xfrm>
          <a:prstGeom prst="rect">
            <a:avLst/>
          </a:prstGeom>
        </p:spPr>
        <p:txBody>
          <a:bodyPr lIns="0" tIns="0" rIns="0" bIns="0" rtlCol="0" anchor="t">
            <a:spAutoFit/>
          </a:bodyPr>
          <a:lstStyle/>
          <a:p>
            <a:pPr algn="l">
              <a:lnSpc>
                <a:spcPts val="5983"/>
              </a:lnSpc>
            </a:pPr>
            <a:r>
              <a:rPr lang="en-US" sz="6434">
                <a:solidFill>
                  <a:srgbClr val="566186"/>
                </a:solidFill>
                <a:latin typeface="Rubik One"/>
                <a:ea typeface="Rubik One"/>
                <a:cs typeface="Rubik One"/>
                <a:sym typeface="Rubik One"/>
              </a:rPr>
              <a:t>MEDICAL IMAGING</a:t>
            </a:r>
          </a:p>
        </p:txBody>
      </p:sp>
      <p:sp>
        <p:nvSpPr>
          <p:cNvPr id="10" name="TextBox 10"/>
          <p:cNvSpPr txBox="1"/>
          <p:nvPr/>
        </p:nvSpPr>
        <p:spPr>
          <a:xfrm>
            <a:off x="1976872" y="4290193"/>
            <a:ext cx="6498391" cy="2985383"/>
          </a:xfrm>
          <a:prstGeom prst="rect">
            <a:avLst/>
          </a:prstGeom>
        </p:spPr>
        <p:txBody>
          <a:bodyPr lIns="0" tIns="0" rIns="0" bIns="0" rtlCol="0" anchor="t">
            <a:spAutoFit/>
          </a:bodyPr>
          <a:lstStyle/>
          <a:p>
            <a:pPr algn="l">
              <a:lnSpc>
                <a:spcPts val="2926"/>
              </a:lnSpc>
              <a:spcBef>
                <a:spcPct val="0"/>
              </a:spcBef>
            </a:pPr>
            <a:r>
              <a:rPr lang="en-US" sz="2090" spc="-41" dirty="0">
                <a:solidFill>
                  <a:srgbClr val="000000"/>
                </a:solidFill>
                <a:latin typeface="Poppins"/>
                <a:ea typeface="Poppins"/>
                <a:cs typeface="Poppins"/>
                <a:sym typeface="Poppins"/>
              </a:rPr>
              <a:t>AI can analyze thousands of scans quickly and through AI tools can automatically highlight areas of concern in medical images like X-rays, MRIs and CT scans. These systems do not replace radiologists but instead act as supportive tools that help doctors focus their attention on the most important details and increasing efficiency by 20-40%.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37730" y="2756436"/>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3"/>
            <a:stretch>
              <a:fillRect/>
            </a:stretch>
          </a:blipFill>
        </p:spPr>
        <p:txBody>
          <a:bodyPr/>
          <a:lstStyle/>
          <a:p>
            <a:endParaRPr lang="en-US"/>
          </a:p>
        </p:txBody>
      </p:sp>
      <p:sp>
        <p:nvSpPr>
          <p:cNvPr id="3" name="Freeform 3"/>
          <p:cNvSpPr/>
          <p:nvPr/>
        </p:nvSpPr>
        <p:spPr>
          <a:xfrm>
            <a:off x="12933291" y="-2070181"/>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3"/>
            <a:stretch>
              <a:fillRect/>
            </a:stretch>
          </a:blipFill>
        </p:spPr>
        <p:txBody>
          <a:bodyPr/>
          <a:lstStyle/>
          <a:p>
            <a:endParaRPr lang="en-US"/>
          </a:p>
        </p:txBody>
      </p:sp>
      <p:sp>
        <p:nvSpPr>
          <p:cNvPr id="4" name="Freeform 4"/>
          <p:cNvSpPr/>
          <p:nvPr/>
        </p:nvSpPr>
        <p:spPr>
          <a:xfrm>
            <a:off x="-696854" y="-515033"/>
            <a:ext cx="3095205" cy="3087467"/>
          </a:xfrm>
          <a:custGeom>
            <a:avLst/>
            <a:gdLst/>
            <a:ahLst/>
            <a:cxnLst/>
            <a:rect l="l" t="t" r="r" b="b"/>
            <a:pathLst>
              <a:path w="3095205" h="3087467">
                <a:moveTo>
                  <a:pt x="0" y="0"/>
                </a:moveTo>
                <a:lnTo>
                  <a:pt x="3095204" y="0"/>
                </a:lnTo>
                <a:lnTo>
                  <a:pt x="3095204" y="3087466"/>
                </a:lnTo>
                <a:lnTo>
                  <a:pt x="0" y="30874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16614151" y="7837770"/>
            <a:ext cx="3156157" cy="3148266"/>
          </a:xfrm>
          <a:custGeom>
            <a:avLst/>
            <a:gdLst/>
            <a:ahLst/>
            <a:cxnLst/>
            <a:rect l="l" t="t" r="r" b="b"/>
            <a:pathLst>
              <a:path w="3156157" h="3148266">
                <a:moveTo>
                  <a:pt x="0" y="0"/>
                </a:moveTo>
                <a:lnTo>
                  <a:pt x="3156156" y="0"/>
                </a:lnTo>
                <a:lnTo>
                  <a:pt x="3156156" y="3148266"/>
                </a:lnTo>
                <a:lnTo>
                  <a:pt x="0" y="314826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14648336" y="-2641169"/>
            <a:ext cx="5476355" cy="4901338"/>
          </a:xfrm>
          <a:custGeom>
            <a:avLst/>
            <a:gdLst/>
            <a:ahLst/>
            <a:cxnLst/>
            <a:rect l="l" t="t" r="r" b="b"/>
            <a:pathLst>
              <a:path w="5476355" h="4901338">
                <a:moveTo>
                  <a:pt x="0" y="0"/>
                </a:moveTo>
                <a:lnTo>
                  <a:pt x="5476354" y="0"/>
                </a:lnTo>
                <a:lnTo>
                  <a:pt x="5476354" y="4901338"/>
                </a:lnTo>
                <a:lnTo>
                  <a:pt x="0" y="490133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p:nvSpPr>
        <p:spPr>
          <a:xfrm>
            <a:off x="-1848757" y="7996502"/>
            <a:ext cx="5213924" cy="4666462"/>
          </a:xfrm>
          <a:custGeom>
            <a:avLst/>
            <a:gdLst/>
            <a:ahLst/>
            <a:cxnLst/>
            <a:rect l="l" t="t" r="r" b="b"/>
            <a:pathLst>
              <a:path w="5213924" h="4666462">
                <a:moveTo>
                  <a:pt x="0" y="0"/>
                </a:moveTo>
                <a:lnTo>
                  <a:pt x="5213924" y="0"/>
                </a:lnTo>
                <a:lnTo>
                  <a:pt x="5213924" y="4666462"/>
                </a:lnTo>
                <a:lnTo>
                  <a:pt x="0" y="466646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8" name="Group 8"/>
          <p:cNvGrpSpPr/>
          <p:nvPr/>
        </p:nvGrpSpPr>
        <p:grpSpPr>
          <a:xfrm>
            <a:off x="10297381" y="4063719"/>
            <a:ext cx="5552220" cy="2984781"/>
            <a:chOff x="0" y="0"/>
            <a:chExt cx="1506383" cy="900865"/>
          </a:xfrm>
        </p:grpSpPr>
        <p:sp>
          <p:nvSpPr>
            <p:cNvPr id="9" name="Freeform 9"/>
            <p:cNvSpPr/>
            <p:nvPr/>
          </p:nvSpPr>
          <p:spPr>
            <a:xfrm>
              <a:off x="0" y="0"/>
              <a:ext cx="1506383" cy="900865"/>
            </a:xfrm>
            <a:custGeom>
              <a:avLst/>
              <a:gdLst/>
              <a:ahLst/>
              <a:cxnLst/>
              <a:rect l="l" t="t" r="r" b="b"/>
              <a:pathLst>
                <a:path w="1506383" h="900865">
                  <a:moveTo>
                    <a:pt x="69033" y="0"/>
                  </a:moveTo>
                  <a:lnTo>
                    <a:pt x="1437350" y="0"/>
                  </a:lnTo>
                  <a:cubicBezTo>
                    <a:pt x="1455658" y="0"/>
                    <a:pt x="1473217" y="7273"/>
                    <a:pt x="1486163" y="20219"/>
                  </a:cubicBezTo>
                  <a:cubicBezTo>
                    <a:pt x="1499110" y="33166"/>
                    <a:pt x="1506383" y="50724"/>
                    <a:pt x="1506383" y="69033"/>
                  </a:cubicBezTo>
                  <a:lnTo>
                    <a:pt x="1506383" y="831832"/>
                  </a:lnTo>
                  <a:cubicBezTo>
                    <a:pt x="1506383" y="850140"/>
                    <a:pt x="1499110" y="867699"/>
                    <a:pt x="1486163" y="880645"/>
                  </a:cubicBezTo>
                  <a:cubicBezTo>
                    <a:pt x="1473217" y="893592"/>
                    <a:pt x="1455658" y="900865"/>
                    <a:pt x="1437350" y="900865"/>
                  </a:cubicBezTo>
                  <a:lnTo>
                    <a:pt x="69033" y="900865"/>
                  </a:lnTo>
                  <a:cubicBezTo>
                    <a:pt x="50724" y="900865"/>
                    <a:pt x="33166" y="893592"/>
                    <a:pt x="20219" y="880645"/>
                  </a:cubicBezTo>
                  <a:cubicBezTo>
                    <a:pt x="7273" y="867699"/>
                    <a:pt x="0" y="850140"/>
                    <a:pt x="0" y="831832"/>
                  </a:cubicBezTo>
                  <a:lnTo>
                    <a:pt x="0" y="69033"/>
                  </a:lnTo>
                  <a:cubicBezTo>
                    <a:pt x="0" y="50724"/>
                    <a:pt x="7273" y="33166"/>
                    <a:pt x="20219" y="20219"/>
                  </a:cubicBezTo>
                  <a:cubicBezTo>
                    <a:pt x="33166" y="7273"/>
                    <a:pt x="50724" y="0"/>
                    <a:pt x="69033" y="0"/>
                  </a:cubicBezTo>
                  <a:close/>
                </a:path>
              </a:pathLst>
            </a:custGeom>
            <a:solidFill>
              <a:srgbClr val="DAE3FF"/>
            </a:solidFill>
            <a:ln cap="rnd">
              <a:noFill/>
              <a:prstDash val="solid"/>
              <a:round/>
            </a:ln>
          </p:spPr>
          <p:txBody>
            <a:bodyPr/>
            <a:lstStyle/>
            <a:p>
              <a:endParaRPr lang="en-US"/>
            </a:p>
          </p:txBody>
        </p:sp>
        <p:sp>
          <p:nvSpPr>
            <p:cNvPr id="10" name="TextBox 10"/>
            <p:cNvSpPr txBox="1"/>
            <p:nvPr/>
          </p:nvSpPr>
          <p:spPr>
            <a:xfrm>
              <a:off x="0" y="-57150"/>
              <a:ext cx="1506383" cy="958015"/>
            </a:xfrm>
            <a:prstGeom prst="rect">
              <a:avLst/>
            </a:prstGeom>
          </p:spPr>
          <p:txBody>
            <a:bodyPr lIns="50800" tIns="50800" rIns="50800" bIns="50800" rtlCol="0" anchor="ctr"/>
            <a:lstStyle/>
            <a:p>
              <a:pPr algn="ctr">
                <a:lnSpc>
                  <a:spcPts val="2786"/>
                </a:lnSpc>
              </a:pPr>
              <a:r>
                <a:rPr lang="en-US" sz="1990" i="1" spc="-39" dirty="0">
                  <a:solidFill>
                    <a:srgbClr val="000000"/>
                  </a:solidFill>
                  <a:latin typeface="Poppins Italics"/>
                  <a:cs typeface="Poppins Italics"/>
                  <a:sym typeface="Poppins Medium"/>
                </a:rPr>
                <a:t>Traditionally, developing a drug medications may require years of research and extensive testing. AI algorithms can analyze different chemical structures and biological data to predict which compound may be effective, reducing the time and cost required to bring new treatments.</a:t>
              </a:r>
            </a:p>
          </p:txBody>
        </p:sp>
      </p:grpSp>
      <p:sp>
        <p:nvSpPr>
          <p:cNvPr id="11" name="Freeform 11"/>
          <p:cNvSpPr/>
          <p:nvPr/>
        </p:nvSpPr>
        <p:spPr>
          <a:xfrm>
            <a:off x="3365167" y="3606519"/>
            <a:ext cx="3133428" cy="4571314"/>
          </a:xfrm>
          <a:custGeom>
            <a:avLst/>
            <a:gdLst/>
            <a:ahLst/>
            <a:cxnLst/>
            <a:rect l="l" t="t" r="r" b="b"/>
            <a:pathLst>
              <a:path w="3133428" h="4571314">
                <a:moveTo>
                  <a:pt x="0" y="0"/>
                </a:moveTo>
                <a:lnTo>
                  <a:pt x="3133428" y="0"/>
                </a:lnTo>
                <a:lnTo>
                  <a:pt x="3133428" y="4571314"/>
                </a:lnTo>
                <a:lnTo>
                  <a:pt x="0" y="457131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2" name="TextBox 12"/>
          <p:cNvSpPr txBox="1"/>
          <p:nvPr/>
        </p:nvSpPr>
        <p:spPr>
          <a:xfrm>
            <a:off x="1225408" y="2869083"/>
            <a:ext cx="14791519" cy="737436"/>
          </a:xfrm>
          <a:prstGeom prst="rect">
            <a:avLst/>
          </a:prstGeom>
        </p:spPr>
        <p:txBody>
          <a:bodyPr lIns="0" tIns="0" rIns="0" bIns="0" rtlCol="0" anchor="t">
            <a:spAutoFit/>
          </a:bodyPr>
          <a:lstStyle/>
          <a:p>
            <a:pPr algn="r">
              <a:lnSpc>
                <a:spcPts val="5471"/>
              </a:lnSpc>
            </a:pPr>
            <a:r>
              <a:rPr lang="en-US" sz="5883">
                <a:solidFill>
                  <a:srgbClr val="566186"/>
                </a:solidFill>
                <a:latin typeface="Rubik One"/>
                <a:ea typeface="Rubik One"/>
                <a:cs typeface="Rubik One"/>
                <a:sym typeface="Rubik One"/>
              </a:rPr>
              <a:t>DRUG DISCOVERY</a:t>
            </a:r>
          </a:p>
        </p:txBody>
      </p:sp>
      <p:grpSp>
        <p:nvGrpSpPr>
          <p:cNvPr id="13" name="Group 8"/>
          <p:cNvGrpSpPr/>
          <p:nvPr/>
        </p:nvGrpSpPr>
        <p:grpSpPr>
          <a:xfrm>
            <a:off x="9707824" y="7295699"/>
            <a:ext cx="6728008" cy="1209201"/>
            <a:chOff x="0" y="0"/>
            <a:chExt cx="1771986" cy="318473"/>
          </a:xfrm>
        </p:grpSpPr>
        <p:sp>
          <p:nvSpPr>
            <p:cNvPr id="14" name="Freeform 9"/>
            <p:cNvSpPr/>
            <p:nvPr/>
          </p:nvSpPr>
          <p:spPr>
            <a:xfrm>
              <a:off x="0" y="0"/>
              <a:ext cx="1771986" cy="318473"/>
            </a:xfrm>
            <a:custGeom>
              <a:avLst/>
              <a:gdLst/>
              <a:ahLst/>
              <a:cxnLst/>
              <a:rect l="l" t="t" r="r" b="b"/>
              <a:pathLst>
                <a:path w="1771986" h="318473">
                  <a:moveTo>
                    <a:pt x="58686" y="0"/>
                  </a:moveTo>
                  <a:lnTo>
                    <a:pt x="1713300" y="0"/>
                  </a:lnTo>
                  <a:cubicBezTo>
                    <a:pt x="1745711" y="0"/>
                    <a:pt x="1771986" y="26274"/>
                    <a:pt x="1771986" y="58686"/>
                  </a:cubicBezTo>
                  <a:lnTo>
                    <a:pt x="1771986" y="259787"/>
                  </a:lnTo>
                  <a:cubicBezTo>
                    <a:pt x="1771986" y="292198"/>
                    <a:pt x="1745711" y="318473"/>
                    <a:pt x="1713300" y="318473"/>
                  </a:cubicBezTo>
                  <a:lnTo>
                    <a:pt x="58686" y="318473"/>
                  </a:lnTo>
                  <a:cubicBezTo>
                    <a:pt x="43121" y="318473"/>
                    <a:pt x="28194" y="312290"/>
                    <a:pt x="17189" y="301284"/>
                  </a:cubicBezTo>
                  <a:cubicBezTo>
                    <a:pt x="6183" y="290278"/>
                    <a:pt x="0" y="275351"/>
                    <a:pt x="0" y="259787"/>
                  </a:cubicBezTo>
                  <a:lnTo>
                    <a:pt x="0" y="58686"/>
                  </a:lnTo>
                  <a:cubicBezTo>
                    <a:pt x="0" y="26274"/>
                    <a:pt x="26274" y="0"/>
                    <a:pt x="58686" y="0"/>
                  </a:cubicBezTo>
                  <a:close/>
                </a:path>
              </a:pathLst>
            </a:custGeom>
            <a:solidFill>
              <a:srgbClr val="DAE3FF"/>
            </a:solidFill>
          </p:spPr>
          <p:txBody>
            <a:bodyPr/>
            <a:lstStyle/>
            <a:p>
              <a:endParaRPr lang="en-US"/>
            </a:p>
          </p:txBody>
        </p:sp>
        <p:sp>
          <p:nvSpPr>
            <p:cNvPr id="15" name="TextBox 10"/>
            <p:cNvSpPr txBox="1"/>
            <p:nvPr/>
          </p:nvSpPr>
          <p:spPr>
            <a:xfrm>
              <a:off x="0" y="-57150"/>
              <a:ext cx="1771986" cy="375623"/>
            </a:xfrm>
            <a:prstGeom prst="rect">
              <a:avLst/>
            </a:prstGeom>
          </p:spPr>
          <p:txBody>
            <a:bodyPr lIns="50800" tIns="50800" rIns="50800" bIns="50800" rtlCol="0" anchor="ctr"/>
            <a:lstStyle/>
            <a:p>
              <a:pPr algn="ctr">
                <a:lnSpc>
                  <a:spcPts val="2786"/>
                </a:lnSpc>
              </a:pPr>
              <a:endParaRPr/>
            </a:p>
          </p:txBody>
        </p:sp>
      </p:grpSp>
      <p:sp>
        <p:nvSpPr>
          <p:cNvPr id="16" name="TextBox 14"/>
          <p:cNvSpPr txBox="1"/>
          <p:nvPr/>
        </p:nvSpPr>
        <p:spPr>
          <a:xfrm>
            <a:off x="9906000" y="7539789"/>
            <a:ext cx="6084538" cy="711448"/>
          </a:xfrm>
          <a:prstGeom prst="rect">
            <a:avLst/>
          </a:prstGeom>
        </p:spPr>
        <p:txBody>
          <a:bodyPr lIns="0" tIns="0" rIns="0" bIns="0" rtlCol="0" anchor="t">
            <a:spAutoFit/>
          </a:bodyPr>
          <a:lstStyle/>
          <a:p>
            <a:pPr algn="r">
              <a:lnSpc>
                <a:spcPts val="2786"/>
              </a:lnSpc>
              <a:spcBef>
                <a:spcPct val="0"/>
              </a:spcBef>
            </a:pPr>
            <a:r>
              <a:rPr lang="en-US" sz="1990" i="1" spc="-39" dirty="0">
                <a:solidFill>
                  <a:srgbClr val="000000"/>
                </a:solidFill>
                <a:latin typeface="Poppins Italics"/>
                <a:ea typeface="Poppins Italics"/>
                <a:cs typeface="Poppins Italics"/>
                <a:sym typeface="Poppins Italics"/>
              </a:rPr>
              <a:t>Fun Fact: It can take 10-15 years to develop a drug, but AI can cut that time to almost in half!</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562734" y="-824016"/>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2"/>
            <a:stretch>
              <a:fillRect/>
            </a:stretch>
          </a:blipFill>
        </p:spPr>
        <p:txBody>
          <a:bodyPr/>
          <a:lstStyle/>
          <a:p>
            <a:endParaRPr lang="en-US"/>
          </a:p>
        </p:txBody>
      </p:sp>
      <p:sp>
        <p:nvSpPr>
          <p:cNvPr id="3" name="Freeform 3"/>
          <p:cNvSpPr/>
          <p:nvPr/>
        </p:nvSpPr>
        <p:spPr>
          <a:xfrm>
            <a:off x="-5738632" y="1863328"/>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2"/>
            <a:stretch>
              <a:fillRect/>
            </a:stretch>
          </a:blipFill>
        </p:spPr>
        <p:txBody>
          <a:bodyPr/>
          <a:lstStyle/>
          <a:p>
            <a:endParaRPr lang="en-US"/>
          </a:p>
        </p:txBody>
      </p:sp>
      <p:sp>
        <p:nvSpPr>
          <p:cNvPr id="4" name="Freeform 4"/>
          <p:cNvSpPr/>
          <p:nvPr/>
        </p:nvSpPr>
        <p:spPr>
          <a:xfrm>
            <a:off x="16218029" y="-515033"/>
            <a:ext cx="3095205" cy="3087467"/>
          </a:xfrm>
          <a:custGeom>
            <a:avLst/>
            <a:gdLst/>
            <a:ahLst/>
            <a:cxnLst/>
            <a:rect l="l" t="t" r="r" b="b"/>
            <a:pathLst>
              <a:path w="3095205" h="3087467">
                <a:moveTo>
                  <a:pt x="0" y="0"/>
                </a:moveTo>
                <a:lnTo>
                  <a:pt x="3095204" y="0"/>
                </a:lnTo>
                <a:lnTo>
                  <a:pt x="3095204" y="3087466"/>
                </a:lnTo>
                <a:lnTo>
                  <a:pt x="0" y="30874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179285" y="8406361"/>
            <a:ext cx="3156157" cy="3148266"/>
          </a:xfrm>
          <a:custGeom>
            <a:avLst/>
            <a:gdLst/>
            <a:ahLst/>
            <a:cxnLst/>
            <a:rect l="l" t="t" r="r" b="b"/>
            <a:pathLst>
              <a:path w="3156157" h="3148266">
                <a:moveTo>
                  <a:pt x="0" y="0"/>
                </a:moveTo>
                <a:lnTo>
                  <a:pt x="3156157" y="0"/>
                </a:lnTo>
                <a:lnTo>
                  <a:pt x="3156157" y="3148266"/>
                </a:lnTo>
                <a:lnTo>
                  <a:pt x="0" y="31482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2118325" y="-2587721"/>
            <a:ext cx="5476355" cy="4901338"/>
          </a:xfrm>
          <a:custGeom>
            <a:avLst/>
            <a:gdLst/>
            <a:ahLst/>
            <a:cxnLst/>
            <a:rect l="l" t="t" r="r" b="b"/>
            <a:pathLst>
              <a:path w="5476355" h="4901338">
                <a:moveTo>
                  <a:pt x="0" y="0"/>
                </a:moveTo>
                <a:lnTo>
                  <a:pt x="5476355" y="0"/>
                </a:lnTo>
                <a:lnTo>
                  <a:pt x="5476355" y="4901337"/>
                </a:lnTo>
                <a:lnTo>
                  <a:pt x="0" y="490133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4556383" y="8251998"/>
            <a:ext cx="5213924" cy="4666462"/>
          </a:xfrm>
          <a:custGeom>
            <a:avLst/>
            <a:gdLst/>
            <a:ahLst/>
            <a:cxnLst/>
            <a:rect l="l" t="t" r="r" b="b"/>
            <a:pathLst>
              <a:path w="5213924" h="4666462">
                <a:moveTo>
                  <a:pt x="0" y="0"/>
                </a:moveTo>
                <a:lnTo>
                  <a:pt x="5213924" y="0"/>
                </a:lnTo>
                <a:lnTo>
                  <a:pt x="5213924" y="4666462"/>
                </a:lnTo>
                <a:lnTo>
                  <a:pt x="0" y="466646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a:off x="11018084" y="2787152"/>
            <a:ext cx="4712695" cy="4712695"/>
          </a:xfrm>
          <a:custGeom>
            <a:avLst/>
            <a:gdLst/>
            <a:ahLst/>
            <a:cxnLst/>
            <a:rect l="l" t="t" r="r" b="b"/>
            <a:pathLst>
              <a:path w="4712695" h="4712695">
                <a:moveTo>
                  <a:pt x="0" y="0"/>
                </a:moveTo>
                <a:lnTo>
                  <a:pt x="4712695" y="0"/>
                </a:lnTo>
                <a:lnTo>
                  <a:pt x="4712695" y="4712696"/>
                </a:lnTo>
                <a:lnTo>
                  <a:pt x="0" y="471269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TextBox 9"/>
          <p:cNvSpPr txBox="1"/>
          <p:nvPr/>
        </p:nvSpPr>
        <p:spPr>
          <a:xfrm>
            <a:off x="1768804" y="3085609"/>
            <a:ext cx="8231768" cy="1565062"/>
          </a:xfrm>
          <a:prstGeom prst="rect">
            <a:avLst/>
          </a:prstGeom>
        </p:spPr>
        <p:txBody>
          <a:bodyPr lIns="0" tIns="0" rIns="0" bIns="0" rtlCol="0" anchor="t">
            <a:spAutoFit/>
          </a:bodyPr>
          <a:lstStyle/>
          <a:p>
            <a:pPr algn="l">
              <a:lnSpc>
                <a:spcPts val="5983"/>
              </a:lnSpc>
            </a:pPr>
            <a:r>
              <a:rPr lang="en-US" sz="6434">
                <a:solidFill>
                  <a:srgbClr val="566186"/>
                </a:solidFill>
                <a:latin typeface="Rubik One"/>
                <a:ea typeface="Rubik One"/>
                <a:cs typeface="Rubik One"/>
                <a:sym typeface="Rubik One"/>
              </a:rPr>
              <a:t>PERSONALIZED MEDICINE</a:t>
            </a:r>
          </a:p>
        </p:txBody>
      </p:sp>
      <p:sp>
        <p:nvSpPr>
          <p:cNvPr id="10" name="TextBox 10"/>
          <p:cNvSpPr txBox="1"/>
          <p:nvPr/>
        </p:nvSpPr>
        <p:spPr>
          <a:xfrm>
            <a:off x="1768804" y="4756258"/>
            <a:ext cx="6498391" cy="2613908"/>
          </a:xfrm>
          <a:prstGeom prst="rect">
            <a:avLst/>
          </a:prstGeom>
        </p:spPr>
        <p:txBody>
          <a:bodyPr lIns="0" tIns="0" rIns="0" bIns="0" rtlCol="0" anchor="t">
            <a:spAutoFit/>
          </a:bodyPr>
          <a:lstStyle/>
          <a:p>
            <a:pPr algn="l">
              <a:lnSpc>
                <a:spcPts val="2926"/>
              </a:lnSpc>
              <a:spcBef>
                <a:spcPct val="0"/>
              </a:spcBef>
            </a:pPr>
            <a:r>
              <a:rPr lang="en-US" sz="1990" i="1" spc="-39" dirty="0">
                <a:solidFill>
                  <a:srgbClr val="000000"/>
                </a:solidFill>
                <a:latin typeface="Poppins Italics"/>
                <a:cs typeface="Poppins Italics"/>
                <a:sym typeface="Poppins"/>
              </a:rPr>
              <a:t>Personalized medicine represents another promising application of AI. By analyzing genetic information, lifestyle factors, and medical history, AI systems can help doctors design personalized treatment plans tailored to each patient. This approach has the potential to improve treatment effectiveness and reduce unwanted side effects</a:t>
            </a:r>
            <a:r>
              <a:rPr lang="en-US" sz="2090" spc="-41" dirty="0">
                <a:solidFill>
                  <a:srgbClr val="000000"/>
                </a:solidFill>
                <a:latin typeface="Poppins"/>
                <a:ea typeface="Poppins"/>
                <a:cs typeface="Poppins"/>
                <a:sym typeface="Poppins"/>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37730" y="2756436"/>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2"/>
            <a:stretch>
              <a:fillRect/>
            </a:stretch>
          </a:blipFill>
        </p:spPr>
        <p:txBody>
          <a:bodyPr/>
          <a:lstStyle/>
          <a:p>
            <a:endParaRPr lang="en-US"/>
          </a:p>
        </p:txBody>
      </p:sp>
      <p:sp>
        <p:nvSpPr>
          <p:cNvPr id="3" name="Freeform 3"/>
          <p:cNvSpPr/>
          <p:nvPr/>
        </p:nvSpPr>
        <p:spPr>
          <a:xfrm>
            <a:off x="12933291" y="-2070181"/>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2"/>
            <a:stretch>
              <a:fillRect/>
            </a:stretch>
          </a:blipFill>
        </p:spPr>
        <p:txBody>
          <a:bodyPr/>
          <a:lstStyle/>
          <a:p>
            <a:endParaRPr lang="en-US"/>
          </a:p>
        </p:txBody>
      </p:sp>
      <p:sp>
        <p:nvSpPr>
          <p:cNvPr id="4" name="Freeform 4"/>
          <p:cNvSpPr/>
          <p:nvPr/>
        </p:nvSpPr>
        <p:spPr>
          <a:xfrm>
            <a:off x="-696854" y="-515033"/>
            <a:ext cx="3095205" cy="3087467"/>
          </a:xfrm>
          <a:custGeom>
            <a:avLst/>
            <a:gdLst/>
            <a:ahLst/>
            <a:cxnLst/>
            <a:rect l="l" t="t" r="r" b="b"/>
            <a:pathLst>
              <a:path w="3095205" h="3087467">
                <a:moveTo>
                  <a:pt x="0" y="0"/>
                </a:moveTo>
                <a:lnTo>
                  <a:pt x="3095204" y="0"/>
                </a:lnTo>
                <a:lnTo>
                  <a:pt x="3095204" y="3087466"/>
                </a:lnTo>
                <a:lnTo>
                  <a:pt x="0" y="30874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6614151" y="7837770"/>
            <a:ext cx="3156157" cy="3148266"/>
          </a:xfrm>
          <a:custGeom>
            <a:avLst/>
            <a:gdLst/>
            <a:ahLst/>
            <a:cxnLst/>
            <a:rect l="l" t="t" r="r" b="b"/>
            <a:pathLst>
              <a:path w="3156157" h="3148266">
                <a:moveTo>
                  <a:pt x="0" y="0"/>
                </a:moveTo>
                <a:lnTo>
                  <a:pt x="3156156" y="0"/>
                </a:lnTo>
                <a:lnTo>
                  <a:pt x="3156156" y="3148266"/>
                </a:lnTo>
                <a:lnTo>
                  <a:pt x="0" y="31482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4648336" y="-2641169"/>
            <a:ext cx="5476355" cy="4901338"/>
          </a:xfrm>
          <a:custGeom>
            <a:avLst/>
            <a:gdLst/>
            <a:ahLst/>
            <a:cxnLst/>
            <a:rect l="l" t="t" r="r" b="b"/>
            <a:pathLst>
              <a:path w="5476355" h="4901338">
                <a:moveTo>
                  <a:pt x="0" y="0"/>
                </a:moveTo>
                <a:lnTo>
                  <a:pt x="5476354" y="0"/>
                </a:lnTo>
                <a:lnTo>
                  <a:pt x="5476354" y="4901338"/>
                </a:lnTo>
                <a:lnTo>
                  <a:pt x="0" y="490133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848757" y="7996502"/>
            <a:ext cx="5213924" cy="4666462"/>
          </a:xfrm>
          <a:custGeom>
            <a:avLst/>
            <a:gdLst/>
            <a:ahLst/>
            <a:cxnLst/>
            <a:rect l="l" t="t" r="r" b="b"/>
            <a:pathLst>
              <a:path w="5213924" h="4666462">
                <a:moveTo>
                  <a:pt x="0" y="0"/>
                </a:moveTo>
                <a:lnTo>
                  <a:pt x="5213924" y="0"/>
                </a:lnTo>
                <a:lnTo>
                  <a:pt x="5213924" y="4666462"/>
                </a:lnTo>
                <a:lnTo>
                  <a:pt x="0" y="466646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8" name="Group 8"/>
          <p:cNvGrpSpPr/>
          <p:nvPr/>
        </p:nvGrpSpPr>
        <p:grpSpPr>
          <a:xfrm>
            <a:off x="10297380" y="3654144"/>
            <a:ext cx="5719547" cy="3420471"/>
            <a:chOff x="0" y="0"/>
            <a:chExt cx="1506383" cy="900865"/>
          </a:xfrm>
        </p:grpSpPr>
        <p:sp>
          <p:nvSpPr>
            <p:cNvPr id="9" name="Freeform 9"/>
            <p:cNvSpPr/>
            <p:nvPr/>
          </p:nvSpPr>
          <p:spPr>
            <a:xfrm>
              <a:off x="0" y="0"/>
              <a:ext cx="1506383" cy="900865"/>
            </a:xfrm>
            <a:custGeom>
              <a:avLst/>
              <a:gdLst/>
              <a:ahLst/>
              <a:cxnLst/>
              <a:rect l="l" t="t" r="r" b="b"/>
              <a:pathLst>
                <a:path w="1506383" h="900865">
                  <a:moveTo>
                    <a:pt x="69033" y="0"/>
                  </a:moveTo>
                  <a:lnTo>
                    <a:pt x="1437350" y="0"/>
                  </a:lnTo>
                  <a:cubicBezTo>
                    <a:pt x="1455658" y="0"/>
                    <a:pt x="1473217" y="7273"/>
                    <a:pt x="1486163" y="20219"/>
                  </a:cubicBezTo>
                  <a:cubicBezTo>
                    <a:pt x="1499110" y="33166"/>
                    <a:pt x="1506383" y="50724"/>
                    <a:pt x="1506383" y="69033"/>
                  </a:cubicBezTo>
                  <a:lnTo>
                    <a:pt x="1506383" y="831832"/>
                  </a:lnTo>
                  <a:cubicBezTo>
                    <a:pt x="1506383" y="850140"/>
                    <a:pt x="1499110" y="867699"/>
                    <a:pt x="1486163" y="880645"/>
                  </a:cubicBezTo>
                  <a:cubicBezTo>
                    <a:pt x="1473217" y="893592"/>
                    <a:pt x="1455658" y="900865"/>
                    <a:pt x="1437350" y="900865"/>
                  </a:cubicBezTo>
                  <a:lnTo>
                    <a:pt x="69033" y="900865"/>
                  </a:lnTo>
                  <a:cubicBezTo>
                    <a:pt x="50724" y="900865"/>
                    <a:pt x="33166" y="893592"/>
                    <a:pt x="20219" y="880645"/>
                  </a:cubicBezTo>
                  <a:cubicBezTo>
                    <a:pt x="7273" y="867699"/>
                    <a:pt x="0" y="850140"/>
                    <a:pt x="0" y="831832"/>
                  </a:cubicBezTo>
                  <a:lnTo>
                    <a:pt x="0" y="69033"/>
                  </a:lnTo>
                  <a:cubicBezTo>
                    <a:pt x="0" y="50724"/>
                    <a:pt x="7273" y="33166"/>
                    <a:pt x="20219" y="20219"/>
                  </a:cubicBezTo>
                  <a:cubicBezTo>
                    <a:pt x="33166" y="7273"/>
                    <a:pt x="50724" y="0"/>
                    <a:pt x="69033" y="0"/>
                  </a:cubicBezTo>
                  <a:close/>
                </a:path>
              </a:pathLst>
            </a:custGeom>
            <a:solidFill>
              <a:srgbClr val="DAE3FF"/>
            </a:solidFill>
            <a:ln cap="rnd">
              <a:noFill/>
              <a:prstDash val="solid"/>
              <a:round/>
            </a:ln>
          </p:spPr>
          <p:txBody>
            <a:bodyPr/>
            <a:lstStyle/>
            <a:p>
              <a:endParaRPr lang="en-US"/>
            </a:p>
          </p:txBody>
        </p:sp>
        <p:sp>
          <p:nvSpPr>
            <p:cNvPr id="10" name="TextBox 10"/>
            <p:cNvSpPr txBox="1"/>
            <p:nvPr/>
          </p:nvSpPr>
          <p:spPr>
            <a:xfrm>
              <a:off x="0" y="-57150"/>
              <a:ext cx="1506383" cy="958015"/>
            </a:xfrm>
            <a:prstGeom prst="rect">
              <a:avLst/>
            </a:prstGeom>
          </p:spPr>
          <p:txBody>
            <a:bodyPr lIns="50800" tIns="50800" rIns="50800" bIns="50800" rtlCol="0" anchor="ctr"/>
            <a:lstStyle/>
            <a:p>
              <a:pPr algn="ctr">
                <a:lnSpc>
                  <a:spcPts val="2786"/>
                </a:lnSpc>
              </a:pPr>
              <a:r>
                <a:rPr lang="en-US" sz="1990" i="1" spc="-39" dirty="0">
                  <a:solidFill>
                    <a:srgbClr val="000000"/>
                  </a:solidFill>
                  <a:latin typeface="Poppins Italics"/>
                  <a:cs typeface="Poppins Italics"/>
                  <a:sym typeface="Poppins Medium"/>
                </a:rPr>
                <a:t>Surgical robots can assist doctors during complex procedures by providing enhanced precision and stability. While the surgeon remains in control, the robotic system can help perform delicate movements that might be difficult to achieve with human hands alone. This can lead to shorter recovery times and fewer complications for patients.</a:t>
              </a:r>
            </a:p>
          </p:txBody>
        </p:sp>
      </p:grpSp>
      <p:sp>
        <p:nvSpPr>
          <p:cNvPr id="11" name="Freeform 11"/>
          <p:cNvSpPr/>
          <p:nvPr/>
        </p:nvSpPr>
        <p:spPr>
          <a:xfrm>
            <a:off x="3079616" y="3430255"/>
            <a:ext cx="4119818" cy="4668348"/>
          </a:xfrm>
          <a:custGeom>
            <a:avLst/>
            <a:gdLst/>
            <a:ahLst/>
            <a:cxnLst/>
            <a:rect l="l" t="t" r="r" b="b"/>
            <a:pathLst>
              <a:path w="4119818" h="4668348">
                <a:moveTo>
                  <a:pt x="0" y="0"/>
                </a:moveTo>
                <a:lnTo>
                  <a:pt x="4119817" y="0"/>
                </a:lnTo>
                <a:lnTo>
                  <a:pt x="4119817" y="4668348"/>
                </a:lnTo>
                <a:lnTo>
                  <a:pt x="0" y="466834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2" name="TextBox 12"/>
          <p:cNvSpPr txBox="1"/>
          <p:nvPr/>
        </p:nvSpPr>
        <p:spPr>
          <a:xfrm>
            <a:off x="1225408" y="2869083"/>
            <a:ext cx="14791519" cy="737436"/>
          </a:xfrm>
          <a:prstGeom prst="rect">
            <a:avLst/>
          </a:prstGeom>
        </p:spPr>
        <p:txBody>
          <a:bodyPr lIns="0" tIns="0" rIns="0" bIns="0" rtlCol="0" anchor="t">
            <a:spAutoFit/>
          </a:bodyPr>
          <a:lstStyle/>
          <a:p>
            <a:pPr algn="r">
              <a:lnSpc>
                <a:spcPts val="5471"/>
              </a:lnSpc>
            </a:pPr>
            <a:r>
              <a:rPr lang="en-US" sz="5883">
                <a:solidFill>
                  <a:srgbClr val="566186"/>
                </a:solidFill>
                <a:latin typeface="Rubik One"/>
                <a:ea typeface="Rubik One"/>
                <a:cs typeface="Rubik One"/>
                <a:sym typeface="Rubik One"/>
              </a:rPr>
              <a:t>ROBOTIC SURGERY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149559" y="-8251800"/>
            <a:ext cx="10031092" cy="10344504"/>
          </a:xfrm>
          <a:custGeom>
            <a:avLst/>
            <a:gdLst/>
            <a:ahLst/>
            <a:cxnLst/>
            <a:rect l="l" t="t" r="r" b="b"/>
            <a:pathLst>
              <a:path w="10031092" h="10344504">
                <a:moveTo>
                  <a:pt x="0" y="10344503"/>
                </a:moveTo>
                <a:lnTo>
                  <a:pt x="10031092" y="10344503"/>
                </a:lnTo>
                <a:lnTo>
                  <a:pt x="10031092" y="0"/>
                </a:lnTo>
                <a:lnTo>
                  <a:pt x="0" y="0"/>
                </a:lnTo>
                <a:lnTo>
                  <a:pt x="0" y="10344503"/>
                </a:lnTo>
                <a:close/>
              </a:path>
            </a:pathLst>
          </a:custGeom>
          <a:blipFill>
            <a:blip>
              <a:extLst>
                <a:ext uri="{96DAC541-7B7A-43D3-8B79-37D633B846F1}">
                  <asvg:svgBlip xmlns:asvg="http://schemas.microsoft.com/office/drawing/2016/SVG/main" r:embed="rId2"/>
                </a:ext>
              </a:extLst>
            </a:blip>
            <a:stretch>
              <a:fillRect b="-7595"/>
            </a:stretch>
          </a:blipFill>
        </p:spPr>
        <p:txBody>
          <a:bodyPr/>
          <a:lstStyle/>
          <a:p>
            <a:endParaRPr lang="en-US"/>
          </a:p>
        </p:txBody>
      </p:sp>
      <p:sp>
        <p:nvSpPr>
          <p:cNvPr id="3" name="Freeform 3"/>
          <p:cNvSpPr/>
          <p:nvPr/>
        </p:nvSpPr>
        <p:spPr>
          <a:xfrm>
            <a:off x="13459601" y="-614098"/>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3"/>
            <a:stretch>
              <a:fillRect/>
            </a:stretch>
          </a:blipFill>
        </p:spPr>
        <p:txBody>
          <a:bodyPr/>
          <a:lstStyle/>
          <a:p>
            <a:endParaRPr lang="en-US"/>
          </a:p>
        </p:txBody>
      </p:sp>
      <p:sp>
        <p:nvSpPr>
          <p:cNvPr id="4" name="Freeform 4"/>
          <p:cNvSpPr/>
          <p:nvPr/>
        </p:nvSpPr>
        <p:spPr>
          <a:xfrm>
            <a:off x="-5718946" y="-1542367"/>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3"/>
            <a:stretch>
              <a:fillRect/>
            </a:stretch>
          </a:blipFill>
        </p:spPr>
        <p:txBody>
          <a:bodyPr/>
          <a:lstStyle/>
          <a:p>
            <a:endParaRPr lang="en-US"/>
          </a:p>
        </p:txBody>
      </p:sp>
      <p:sp>
        <p:nvSpPr>
          <p:cNvPr id="5" name="Freeform 5"/>
          <p:cNvSpPr/>
          <p:nvPr/>
        </p:nvSpPr>
        <p:spPr>
          <a:xfrm>
            <a:off x="14054482" y="2572433"/>
            <a:ext cx="3095205" cy="3087467"/>
          </a:xfrm>
          <a:custGeom>
            <a:avLst/>
            <a:gdLst/>
            <a:ahLst/>
            <a:cxnLst/>
            <a:rect l="l" t="t" r="r" b="b"/>
            <a:pathLst>
              <a:path w="3095205" h="3087467">
                <a:moveTo>
                  <a:pt x="0" y="0"/>
                </a:moveTo>
                <a:lnTo>
                  <a:pt x="3095205" y="0"/>
                </a:lnTo>
                <a:lnTo>
                  <a:pt x="3095205" y="3087467"/>
                </a:lnTo>
                <a:lnTo>
                  <a:pt x="0" y="308746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459484" y="6687233"/>
            <a:ext cx="3156157" cy="3148266"/>
          </a:xfrm>
          <a:custGeom>
            <a:avLst/>
            <a:gdLst/>
            <a:ahLst/>
            <a:cxnLst/>
            <a:rect l="l" t="t" r="r" b="b"/>
            <a:pathLst>
              <a:path w="3156157" h="3148266">
                <a:moveTo>
                  <a:pt x="0" y="0"/>
                </a:moveTo>
                <a:lnTo>
                  <a:pt x="3156157" y="0"/>
                </a:lnTo>
                <a:lnTo>
                  <a:pt x="3156157" y="3148267"/>
                </a:lnTo>
                <a:lnTo>
                  <a:pt x="0" y="314826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516049" y="-2532409"/>
            <a:ext cx="5476355" cy="4901338"/>
          </a:xfrm>
          <a:custGeom>
            <a:avLst/>
            <a:gdLst/>
            <a:ahLst/>
            <a:cxnLst/>
            <a:rect l="l" t="t" r="r" b="b"/>
            <a:pathLst>
              <a:path w="5476355" h="4901338">
                <a:moveTo>
                  <a:pt x="0" y="0"/>
                </a:moveTo>
                <a:lnTo>
                  <a:pt x="5476355" y="0"/>
                </a:lnTo>
                <a:lnTo>
                  <a:pt x="5476355" y="4901337"/>
                </a:lnTo>
                <a:lnTo>
                  <a:pt x="0" y="490133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Freeform 8"/>
          <p:cNvSpPr/>
          <p:nvPr/>
        </p:nvSpPr>
        <p:spPr>
          <a:xfrm>
            <a:off x="14556383" y="8251998"/>
            <a:ext cx="5213924" cy="4666462"/>
          </a:xfrm>
          <a:custGeom>
            <a:avLst/>
            <a:gdLst/>
            <a:ahLst/>
            <a:cxnLst/>
            <a:rect l="l" t="t" r="r" b="b"/>
            <a:pathLst>
              <a:path w="5213924" h="4666462">
                <a:moveTo>
                  <a:pt x="0" y="0"/>
                </a:moveTo>
                <a:lnTo>
                  <a:pt x="5213924" y="0"/>
                </a:lnTo>
                <a:lnTo>
                  <a:pt x="5213924" y="4666462"/>
                </a:lnTo>
                <a:lnTo>
                  <a:pt x="0" y="466646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9" name="Group 9"/>
          <p:cNvGrpSpPr/>
          <p:nvPr/>
        </p:nvGrpSpPr>
        <p:grpSpPr>
          <a:xfrm>
            <a:off x="1222129" y="3618195"/>
            <a:ext cx="15927558" cy="6086973"/>
            <a:chOff x="0" y="0"/>
            <a:chExt cx="4194912" cy="1603153"/>
          </a:xfrm>
        </p:grpSpPr>
        <p:sp>
          <p:nvSpPr>
            <p:cNvPr id="10" name="Freeform 10"/>
            <p:cNvSpPr/>
            <p:nvPr/>
          </p:nvSpPr>
          <p:spPr>
            <a:xfrm>
              <a:off x="0" y="0"/>
              <a:ext cx="4194913" cy="1603153"/>
            </a:xfrm>
            <a:custGeom>
              <a:avLst/>
              <a:gdLst/>
              <a:ahLst/>
              <a:cxnLst/>
              <a:rect l="l" t="t" r="r" b="b"/>
              <a:pathLst>
                <a:path w="4194913" h="1603153">
                  <a:moveTo>
                    <a:pt x="24790" y="0"/>
                  </a:moveTo>
                  <a:lnTo>
                    <a:pt x="4170123" y="0"/>
                  </a:lnTo>
                  <a:cubicBezTo>
                    <a:pt x="4183814" y="0"/>
                    <a:pt x="4194913" y="11099"/>
                    <a:pt x="4194913" y="24790"/>
                  </a:cubicBezTo>
                  <a:lnTo>
                    <a:pt x="4194913" y="1578364"/>
                  </a:lnTo>
                  <a:cubicBezTo>
                    <a:pt x="4194913" y="1592055"/>
                    <a:pt x="4183814" y="1603153"/>
                    <a:pt x="4170123" y="1603153"/>
                  </a:cubicBezTo>
                  <a:lnTo>
                    <a:pt x="24790" y="1603153"/>
                  </a:lnTo>
                  <a:cubicBezTo>
                    <a:pt x="11099" y="1603153"/>
                    <a:pt x="0" y="1592055"/>
                    <a:pt x="0" y="1578364"/>
                  </a:cubicBezTo>
                  <a:lnTo>
                    <a:pt x="0" y="24790"/>
                  </a:lnTo>
                  <a:cubicBezTo>
                    <a:pt x="0" y="11099"/>
                    <a:pt x="11099" y="0"/>
                    <a:pt x="24790" y="0"/>
                  </a:cubicBezTo>
                  <a:close/>
                </a:path>
              </a:pathLst>
            </a:custGeom>
            <a:solidFill>
              <a:srgbClr val="DAE3FF"/>
            </a:solidFill>
            <a:ln cap="rnd">
              <a:noFill/>
              <a:prstDash val="solid"/>
              <a:round/>
            </a:ln>
          </p:spPr>
          <p:txBody>
            <a:bodyPr/>
            <a:lstStyle/>
            <a:p>
              <a:endParaRPr lang="en-US"/>
            </a:p>
          </p:txBody>
        </p:sp>
        <p:sp>
          <p:nvSpPr>
            <p:cNvPr id="11" name="TextBox 11"/>
            <p:cNvSpPr txBox="1"/>
            <p:nvPr/>
          </p:nvSpPr>
          <p:spPr>
            <a:xfrm>
              <a:off x="0" y="-57150"/>
              <a:ext cx="4194912" cy="1660303"/>
            </a:xfrm>
            <a:prstGeom prst="rect">
              <a:avLst/>
            </a:prstGeom>
          </p:spPr>
          <p:txBody>
            <a:bodyPr lIns="50800" tIns="50800" rIns="50800" bIns="50800" rtlCol="0" anchor="ctr"/>
            <a:lstStyle/>
            <a:p>
              <a:pPr algn="ctr">
                <a:lnSpc>
                  <a:spcPts val="2786"/>
                </a:lnSpc>
              </a:pPr>
              <a:endParaRPr/>
            </a:p>
          </p:txBody>
        </p:sp>
      </p:grpSp>
      <p:sp>
        <p:nvSpPr>
          <p:cNvPr id="12" name="TextBox 12"/>
          <p:cNvSpPr txBox="1"/>
          <p:nvPr/>
        </p:nvSpPr>
        <p:spPr>
          <a:xfrm>
            <a:off x="4233518" y="2135287"/>
            <a:ext cx="9820964" cy="1563658"/>
          </a:xfrm>
          <a:prstGeom prst="rect">
            <a:avLst/>
          </a:prstGeom>
        </p:spPr>
        <p:txBody>
          <a:bodyPr lIns="0" tIns="0" rIns="0" bIns="0" rtlCol="0" anchor="t">
            <a:spAutoFit/>
          </a:bodyPr>
          <a:lstStyle/>
          <a:p>
            <a:pPr algn="ctr">
              <a:lnSpc>
                <a:spcPts val="5983"/>
              </a:lnSpc>
            </a:pPr>
            <a:r>
              <a:rPr lang="en-US" sz="6434">
                <a:solidFill>
                  <a:srgbClr val="7C8CBF"/>
                </a:solidFill>
                <a:latin typeface="Rubik One"/>
                <a:ea typeface="Rubik One"/>
                <a:cs typeface="Rubik One"/>
                <a:sym typeface="Rubik One"/>
              </a:rPr>
              <a:t>CHALLENGES AND ETHICAL ISSUES</a:t>
            </a:r>
          </a:p>
        </p:txBody>
      </p:sp>
      <p:sp>
        <p:nvSpPr>
          <p:cNvPr id="13" name="TextBox 13"/>
          <p:cNvSpPr txBox="1"/>
          <p:nvPr/>
        </p:nvSpPr>
        <p:spPr>
          <a:xfrm>
            <a:off x="1742461" y="3874029"/>
            <a:ext cx="14886894" cy="5384271"/>
          </a:xfrm>
          <a:prstGeom prst="rect">
            <a:avLst/>
          </a:prstGeom>
        </p:spPr>
        <p:txBody>
          <a:bodyPr lIns="0" tIns="0" rIns="0" bIns="0" rtlCol="0" anchor="t">
            <a:spAutoFit/>
          </a:bodyPr>
          <a:lstStyle/>
          <a:p>
            <a:pPr marL="544246" lvl="1" indent="-272123" algn="l">
              <a:lnSpc>
                <a:spcPts val="3529"/>
              </a:lnSpc>
              <a:buFont typeface="Arial"/>
              <a:buChar char="•"/>
            </a:pPr>
            <a:r>
              <a:rPr lang="en-US" sz="1990" i="1" spc="-39" dirty="0">
                <a:solidFill>
                  <a:srgbClr val="000000"/>
                </a:solidFill>
                <a:latin typeface="Poppins Italics"/>
                <a:cs typeface="Poppins Italics"/>
                <a:sym typeface="Poppins Italics"/>
              </a:rPr>
              <a:t>Data privacy: Medical data is highly sensitive and protecting information is very essential, Healthcare organizations must ensure that AI systems are designed with strong security measure to prevent unauthorized access or misuse of patient data.</a:t>
            </a:r>
          </a:p>
          <a:p>
            <a:pPr marL="544246" lvl="1" indent="-272123" algn="l">
              <a:lnSpc>
                <a:spcPts val="3529"/>
              </a:lnSpc>
              <a:buFont typeface="Arial"/>
              <a:buChar char="•"/>
            </a:pPr>
            <a:r>
              <a:rPr lang="en-US" sz="1990" i="1" spc="-39" dirty="0">
                <a:solidFill>
                  <a:srgbClr val="000000"/>
                </a:solidFill>
                <a:latin typeface="Poppins Italics"/>
                <a:cs typeface="Poppins Italics"/>
                <a:sym typeface="Poppins Italics"/>
              </a:rPr>
              <a:t>Algorithm bias: AI systems learn from the data used to train them. If this data is incomplete or unrepresentative, the system may produce biased results. Addressing the biases is crucial to ensure that AI technologies provide fair and reliable healthcare recommendations.</a:t>
            </a:r>
          </a:p>
          <a:p>
            <a:pPr marL="544246" lvl="1" indent="-272123" algn="l">
              <a:lnSpc>
                <a:spcPts val="3529"/>
              </a:lnSpc>
              <a:buFont typeface="Arial"/>
              <a:buChar char="•"/>
            </a:pPr>
            <a:r>
              <a:rPr lang="en-US" sz="1990" i="1" spc="-39" dirty="0">
                <a:solidFill>
                  <a:srgbClr val="000000"/>
                </a:solidFill>
                <a:latin typeface="Poppins Italics"/>
                <a:cs typeface="Poppins Italics"/>
                <a:sym typeface="Poppins Italics"/>
              </a:rPr>
              <a:t>High cost: Developing, training, and maintaining advanced AI tools requires significant financial investment and technical expertise. </a:t>
            </a:r>
          </a:p>
          <a:p>
            <a:pPr marL="544246" lvl="1" indent="-272123" algn="l">
              <a:lnSpc>
                <a:spcPts val="3529"/>
              </a:lnSpc>
              <a:buFont typeface="Arial"/>
              <a:buChar char="•"/>
            </a:pPr>
            <a:r>
              <a:rPr lang="en-US" sz="1990" i="1" spc="-39" dirty="0">
                <a:solidFill>
                  <a:srgbClr val="000000"/>
                </a:solidFill>
                <a:latin typeface="Poppins Italics"/>
                <a:cs typeface="Poppins Italics"/>
                <a:sym typeface="Poppins Italics"/>
              </a:rPr>
              <a:t>Ethical responsibility: When AI systems assist in making medical decisions, it is important to determine who is responsible if an error occurs. </a:t>
            </a:r>
          </a:p>
          <a:p>
            <a:pPr marL="544246" lvl="1" indent="-272123" algn="l">
              <a:lnSpc>
                <a:spcPts val="3529"/>
              </a:lnSpc>
              <a:buFont typeface="Arial"/>
              <a:buChar char="•"/>
            </a:pPr>
            <a:r>
              <a:rPr lang="en-US" sz="1990" i="1" spc="-39" dirty="0">
                <a:solidFill>
                  <a:srgbClr val="000000"/>
                </a:solidFill>
                <a:latin typeface="Poppins Italics"/>
                <a:cs typeface="Poppins Italics"/>
                <a:sym typeface="Poppins Italics"/>
              </a:rPr>
              <a:t>Lack of Human Empathy: AI systems lack human emotions and understanding. They can’t provide emotional support to patients.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866702" y="941219"/>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2"/>
            <a:stretch>
              <a:fillRect/>
            </a:stretch>
          </a:blipFill>
        </p:spPr>
        <p:txBody>
          <a:bodyPr/>
          <a:lstStyle/>
          <a:p>
            <a:endParaRPr lang="en-US"/>
          </a:p>
        </p:txBody>
      </p:sp>
      <p:sp>
        <p:nvSpPr>
          <p:cNvPr id="3" name="Freeform 3"/>
          <p:cNvSpPr/>
          <p:nvPr/>
        </p:nvSpPr>
        <p:spPr>
          <a:xfrm>
            <a:off x="-207025" y="-395999"/>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2"/>
            <a:stretch>
              <a:fillRect/>
            </a:stretch>
          </a:blipFill>
        </p:spPr>
        <p:txBody>
          <a:bodyPr/>
          <a:lstStyle/>
          <a:p>
            <a:endParaRPr lang="en-US"/>
          </a:p>
        </p:txBody>
      </p:sp>
      <p:sp>
        <p:nvSpPr>
          <p:cNvPr id="4" name="Freeform 4"/>
          <p:cNvSpPr/>
          <p:nvPr/>
        </p:nvSpPr>
        <p:spPr>
          <a:xfrm>
            <a:off x="16487763" y="0"/>
            <a:ext cx="2349471" cy="2343597"/>
          </a:xfrm>
          <a:custGeom>
            <a:avLst/>
            <a:gdLst/>
            <a:ahLst/>
            <a:cxnLst/>
            <a:rect l="l" t="t" r="r" b="b"/>
            <a:pathLst>
              <a:path w="2349471" h="2343597">
                <a:moveTo>
                  <a:pt x="0" y="0"/>
                </a:moveTo>
                <a:lnTo>
                  <a:pt x="2349471" y="0"/>
                </a:lnTo>
                <a:lnTo>
                  <a:pt x="2349471" y="2343597"/>
                </a:lnTo>
                <a:lnTo>
                  <a:pt x="0" y="234359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179285" y="8406361"/>
            <a:ext cx="3156157" cy="3148266"/>
          </a:xfrm>
          <a:custGeom>
            <a:avLst/>
            <a:gdLst/>
            <a:ahLst/>
            <a:cxnLst/>
            <a:rect l="l" t="t" r="r" b="b"/>
            <a:pathLst>
              <a:path w="3156157" h="3148266">
                <a:moveTo>
                  <a:pt x="0" y="0"/>
                </a:moveTo>
                <a:lnTo>
                  <a:pt x="3156157" y="0"/>
                </a:lnTo>
                <a:lnTo>
                  <a:pt x="3156157" y="3148266"/>
                </a:lnTo>
                <a:lnTo>
                  <a:pt x="0" y="31482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2143715" y="-2672040"/>
            <a:ext cx="5476355" cy="4901338"/>
          </a:xfrm>
          <a:custGeom>
            <a:avLst/>
            <a:gdLst/>
            <a:ahLst/>
            <a:cxnLst/>
            <a:rect l="l" t="t" r="r" b="b"/>
            <a:pathLst>
              <a:path w="5476355" h="4901338">
                <a:moveTo>
                  <a:pt x="0" y="0"/>
                </a:moveTo>
                <a:lnTo>
                  <a:pt x="5476355" y="0"/>
                </a:lnTo>
                <a:lnTo>
                  <a:pt x="5476355" y="4901337"/>
                </a:lnTo>
                <a:lnTo>
                  <a:pt x="0" y="490133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4751267" y="8406361"/>
            <a:ext cx="5213924" cy="4666462"/>
          </a:xfrm>
          <a:custGeom>
            <a:avLst/>
            <a:gdLst/>
            <a:ahLst/>
            <a:cxnLst/>
            <a:rect l="l" t="t" r="r" b="b"/>
            <a:pathLst>
              <a:path w="5213924" h="4666462">
                <a:moveTo>
                  <a:pt x="0" y="0"/>
                </a:moveTo>
                <a:lnTo>
                  <a:pt x="5213924" y="0"/>
                </a:lnTo>
                <a:lnTo>
                  <a:pt x="5213924" y="4666462"/>
                </a:lnTo>
                <a:lnTo>
                  <a:pt x="0" y="466646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a:off x="12187103" y="2572433"/>
            <a:ext cx="3312043" cy="5299268"/>
          </a:xfrm>
          <a:custGeom>
            <a:avLst/>
            <a:gdLst/>
            <a:ahLst/>
            <a:cxnLst/>
            <a:rect l="l" t="t" r="r" b="b"/>
            <a:pathLst>
              <a:path w="3312043" h="5299268">
                <a:moveTo>
                  <a:pt x="0" y="0"/>
                </a:moveTo>
                <a:lnTo>
                  <a:pt x="3312043" y="0"/>
                </a:lnTo>
                <a:lnTo>
                  <a:pt x="3312043" y="5299269"/>
                </a:lnTo>
                <a:lnTo>
                  <a:pt x="0" y="529926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TextBox 9"/>
          <p:cNvSpPr txBox="1"/>
          <p:nvPr/>
        </p:nvSpPr>
        <p:spPr>
          <a:xfrm>
            <a:off x="1768804" y="2391222"/>
            <a:ext cx="8231768" cy="811885"/>
          </a:xfrm>
          <a:prstGeom prst="rect">
            <a:avLst/>
          </a:prstGeom>
        </p:spPr>
        <p:txBody>
          <a:bodyPr lIns="0" tIns="0" rIns="0" bIns="0" rtlCol="0" anchor="t">
            <a:spAutoFit/>
          </a:bodyPr>
          <a:lstStyle/>
          <a:p>
            <a:pPr algn="l">
              <a:lnSpc>
                <a:spcPts val="5983"/>
              </a:lnSpc>
            </a:pPr>
            <a:r>
              <a:rPr lang="en-US" sz="6434">
                <a:solidFill>
                  <a:srgbClr val="566186"/>
                </a:solidFill>
                <a:latin typeface="Rubik One"/>
                <a:ea typeface="Rubik One"/>
                <a:cs typeface="Rubik One"/>
                <a:sym typeface="Rubik One"/>
              </a:rPr>
              <a:t>CONCLUSION</a:t>
            </a:r>
          </a:p>
        </p:txBody>
      </p:sp>
      <p:sp>
        <p:nvSpPr>
          <p:cNvPr id="10" name="TextBox 10"/>
          <p:cNvSpPr txBox="1"/>
          <p:nvPr/>
        </p:nvSpPr>
        <p:spPr>
          <a:xfrm>
            <a:off x="1768804" y="3351325"/>
            <a:ext cx="6912241" cy="3931461"/>
          </a:xfrm>
          <a:prstGeom prst="rect">
            <a:avLst/>
          </a:prstGeom>
        </p:spPr>
        <p:txBody>
          <a:bodyPr lIns="0" tIns="0" rIns="0" bIns="0" rtlCol="0" anchor="t">
            <a:spAutoFit/>
          </a:bodyPr>
          <a:lstStyle/>
          <a:p>
            <a:pPr algn="l">
              <a:lnSpc>
                <a:spcPts val="2786"/>
              </a:lnSpc>
            </a:pPr>
            <a:r>
              <a:rPr lang="en-US" sz="1990" i="1" spc="-39" dirty="0">
                <a:solidFill>
                  <a:srgbClr val="000000"/>
                </a:solidFill>
                <a:latin typeface="Poppins Italics"/>
                <a:cs typeface="Poppins Italics"/>
                <a:sym typeface="Poppins"/>
              </a:rPr>
              <a:t> Ultimately, AI should only be viewed as a tool that enhances human expertise rather than replacing, Doctors, nurses, and medical researchers should continue to play a central role in healthcare, while AI provides additional insights and analytical capabilities. As technology continues to evolve, the collaboration between human intelligence and artificial intelligence has the potential to create a more efficient, accurate, and accessible healthcare system for people around the world.</a:t>
            </a:r>
          </a:p>
          <a:p>
            <a:pPr algn="l">
              <a:lnSpc>
                <a:spcPts val="2786"/>
              </a:lnSpc>
              <a:spcBef>
                <a:spcPct val="0"/>
              </a:spcBef>
            </a:pPr>
            <a:endParaRPr lang="en-US" sz="1990" spc="-39" dirty="0">
              <a:solidFill>
                <a:srgbClr val="000000"/>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866702" y="941219"/>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2"/>
            <a:stretch>
              <a:fillRect/>
            </a:stretch>
          </a:blipFill>
        </p:spPr>
        <p:txBody>
          <a:bodyPr/>
          <a:lstStyle/>
          <a:p>
            <a:endParaRPr lang="en-US"/>
          </a:p>
        </p:txBody>
      </p:sp>
      <p:sp>
        <p:nvSpPr>
          <p:cNvPr id="3" name="Freeform 3"/>
          <p:cNvSpPr/>
          <p:nvPr/>
        </p:nvSpPr>
        <p:spPr>
          <a:xfrm>
            <a:off x="-5718946" y="-1542367"/>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2"/>
            <a:stretch>
              <a:fillRect/>
            </a:stretch>
          </a:blipFill>
        </p:spPr>
        <p:txBody>
          <a:bodyPr/>
          <a:lstStyle/>
          <a:p>
            <a:endParaRPr lang="en-US"/>
          </a:p>
        </p:txBody>
      </p:sp>
      <p:sp>
        <p:nvSpPr>
          <p:cNvPr id="4" name="Freeform 4"/>
          <p:cNvSpPr/>
          <p:nvPr/>
        </p:nvSpPr>
        <p:spPr>
          <a:xfrm>
            <a:off x="16487763" y="0"/>
            <a:ext cx="2349471" cy="2343597"/>
          </a:xfrm>
          <a:custGeom>
            <a:avLst/>
            <a:gdLst/>
            <a:ahLst/>
            <a:cxnLst/>
            <a:rect l="l" t="t" r="r" b="b"/>
            <a:pathLst>
              <a:path w="2349471" h="2343597">
                <a:moveTo>
                  <a:pt x="0" y="0"/>
                </a:moveTo>
                <a:lnTo>
                  <a:pt x="2349471" y="0"/>
                </a:lnTo>
                <a:lnTo>
                  <a:pt x="2349471" y="2343597"/>
                </a:lnTo>
                <a:lnTo>
                  <a:pt x="0" y="234359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179285" y="8406361"/>
            <a:ext cx="3156157" cy="3148266"/>
          </a:xfrm>
          <a:custGeom>
            <a:avLst/>
            <a:gdLst/>
            <a:ahLst/>
            <a:cxnLst/>
            <a:rect l="l" t="t" r="r" b="b"/>
            <a:pathLst>
              <a:path w="3156157" h="3148266">
                <a:moveTo>
                  <a:pt x="0" y="0"/>
                </a:moveTo>
                <a:lnTo>
                  <a:pt x="3156157" y="0"/>
                </a:lnTo>
                <a:lnTo>
                  <a:pt x="3156157" y="3148266"/>
                </a:lnTo>
                <a:lnTo>
                  <a:pt x="0" y="31482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2143715" y="-2672040"/>
            <a:ext cx="5476355" cy="4901338"/>
          </a:xfrm>
          <a:custGeom>
            <a:avLst/>
            <a:gdLst/>
            <a:ahLst/>
            <a:cxnLst/>
            <a:rect l="l" t="t" r="r" b="b"/>
            <a:pathLst>
              <a:path w="5476355" h="4901338">
                <a:moveTo>
                  <a:pt x="0" y="0"/>
                </a:moveTo>
                <a:lnTo>
                  <a:pt x="5476355" y="0"/>
                </a:lnTo>
                <a:lnTo>
                  <a:pt x="5476355" y="4901337"/>
                </a:lnTo>
                <a:lnTo>
                  <a:pt x="0" y="490133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4751267" y="8406361"/>
            <a:ext cx="5213924" cy="4666462"/>
          </a:xfrm>
          <a:custGeom>
            <a:avLst/>
            <a:gdLst/>
            <a:ahLst/>
            <a:cxnLst/>
            <a:rect l="l" t="t" r="r" b="b"/>
            <a:pathLst>
              <a:path w="5213924" h="4666462">
                <a:moveTo>
                  <a:pt x="0" y="0"/>
                </a:moveTo>
                <a:lnTo>
                  <a:pt x="5213924" y="0"/>
                </a:lnTo>
                <a:lnTo>
                  <a:pt x="5213924" y="4666462"/>
                </a:lnTo>
                <a:lnTo>
                  <a:pt x="0" y="466646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8"/>
          <p:cNvSpPr txBox="1"/>
          <p:nvPr/>
        </p:nvSpPr>
        <p:spPr>
          <a:xfrm>
            <a:off x="1768804" y="2391222"/>
            <a:ext cx="8231768" cy="811885"/>
          </a:xfrm>
          <a:prstGeom prst="rect">
            <a:avLst/>
          </a:prstGeom>
        </p:spPr>
        <p:txBody>
          <a:bodyPr lIns="0" tIns="0" rIns="0" bIns="0" rtlCol="0" anchor="t">
            <a:spAutoFit/>
          </a:bodyPr>
          <a:lstStyle/>
          <a:p>
            <a:pPr algn="l">
              <a:lnSpc>
                <a:spcPts val="5983"/>
              </a:lnSpc>
            </a:pPr>
            <a:r>
              <a:rPr lang="en-US" sz="6434">
                <a:solidFill>
                  <a:srgbClr val="566186"/>
                </a:solidFill>
                <a:latin typeface="Rubik One"/>
                <a:ea typeface="Rubik One"/>
                <a:cs typeface="Rubik One"/>
                <a:sym typeface="Rubik One"/>
              </a:rPr>
              <a:t>REFERENCES</a:t>
            </a:r>
          </a:p>
        </p:txBody>
      </p:sp>
      <p:sp>
        <p:nvSpPr>
          <p:cNvPr id="9" name="TextBox 9"/>
          <p:cNvSpPr txBox="1"/>
          <p:nvPr/>
        </p:nvSpPr>
        <p:spPr>
          <a:xfrm>
            <a:off x="1768804" y="3525713"/>
            <a:ext cx="14178280" cy="2473573"/>
          </a:xfrm>
          <a:prstGeom prst="rect">
            <a:avLst/>
          </a:prstGeom>
        </p:spPr>
        <p:txBody>
          <a:bodyPr lIns="0" tIns="0" rIns="0" bIns="0" rtlCol="0" anchor="t">
            <a:spAutoFit/>
          </a:bodyPr>
          <a:lstStyle/>
          <a:p>
            <a:pPr marL="0" lvl="1" indent="-214845">
              <a:lnSpc>
                <a:spcPts val="2786"/>
              </a:lnSpc>
              <a:buFont typeface="Arial"/>
              <a:buChar char="•"/>
            </a:pPr>
            <a:r>
              <a:rPr lang="en-US" sz="1990" i="1" spc="-39" dirty="0">
                <a:solidFill>
                  <a:srgbClr val="000000"/>
                </a:solidFill>
                <a:latin typeface="Poppins Italics"/>
                <a:cs typeface="Poppins Italics"/>
                <a:sym typeface="Poppins"/>
              </a:rPr>
              <a:t>Ai could help improve early detection of interval breast cancers. UCLA Health. (2025, May 5). https://www.uclahealth.org/news/release/ai-could-help-improve-early-detection-interval-breast</a:t>
            </a:r>
          </a:p>
          <a:p>
            <a:pPr marL="0" lvl="1" indent="-214845">
              <a:lnSpc>
                <a:spcPts val="2786"/>
              </a:lnSpc>
              <a:buFont typeface="Arial"/>
              <a:buChar char="•"/>
            </a:pPr>
            <a:r>
              <a:rPr lang="en-US" sz="1990" i="1" spc="-39" dirty="0">
                <a:solidFill>
                  <a:srgbClr val="000000"/>
                </a:solidFill>
                <a:latin typeface="Poppins Italics"/>
                <a:cs typeface="Poppins Italics"/>
                <a:sym typeface="Poppins"/>
              </a:rPr>
              <a:t>Tanya Albert Henry Contributing News Writer  Feb 26, &amp; Tanya Albert Henry    Contributing News Writer. (2025, February 26). 2 in 3 physicians are using health AI-up 78% from 2023. American Medical Association. https://www.ama-assn.org/practice-management/digital-health/2-3-physicians-are-using-health-ai-78-2023#:~:text=Physicians’%20use%20of%20health%20care,they%20used%20it%20in%202023.</a:t>
            </a:r>
          </a:p>
          <a:p>
            <a:pPr algn="l">
              <a:lnSpc>
                <a:spcPts val="2786"/>
              </a:lnSpc>
            </a:pPr>
            <a:endParaRPr lang="en-US" sz="1990" spc="-39" dirty="0">
              <a:solidFill>
                <a:srgbClr val="000000"/>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913315" y="-756372"/>
            <a:ext cx="8405795" cy="8229600"/>
          </a:xfrm>
          <a:custGeom>
            <a:avLst/>
            <a:gdLst/>
            <a:ahLst/>
            <a:cxnLst/>
            <a:rect l="l" t="t" r="r" b="b"/>
            <a:pathLst>
              <a:path w="8405795" h="8229600">
                <a:moveTo>
                  <a:pt x="0" y="0"/>
                </a:moveTo>
                <a:lnTo>
                  <a:pt x="8405795" y="0"/>
                </a:lnTo>
                <a:lnTo>
                  <a:pt x="8405795" y="8229600"/>
                </a:lnTo>
                <a:lnTo>
                  <a:pt x="0" y="8229600"/>
                </a:lnTo>
                <a:lnTo>
                  <a:pt x="0" y="0"/>
                </a:lnTo>
                <a:close/>
              </a:path>
            </a:pathLst>
          </a:custGeom>
          <a:blipFill>
            <a:blip r:embed="rId2"/>
            <a:stretch>
              <a:fillRect/>
            </a:stretch>
          </a:blipFill>
        </p:spPr>
        <p:txBody>
          <a:bodyPr/>
          <a:lstStyle/>
          <a:p>
            <a:endParaRPr lang="en-US"/>
          </a:p>
        </p:txBody>
      </p:sp>
      <p:sp>
        <p:nvSpPr>
          <p:cNvPr id="3" name="Freeform 3"/>
          <p:cNvSpPr/>
          <p:nvPr/>
        </p:nvSpPr>
        <p:spPr>
          <a:xfrm>
            <a:off x="-2226026" y="2646600"/>
            <a:ext cx="8405795" cy="8229600"/>
          </a:xfrm>
          <a:custGeom>
            <a:avLst/>
            <a:gdLst/>
            <a:ahLst/>
            <a:cxnLst/>
            <a:rect l="l" t="t" r="r" b="b"/>
            <a:pathLst>
              <a:path w="8405795" h="8229600">
                <a:moveTo>
                  <a:pt x="0" y="0"/>
                </a:moveTo>
                <a:lnTo>
                  <a:pt x="8405796" y="0"/>
                </a:lnTo>
                <a:lnTo>
                  <a:pt x="8405796" y="8229600"/>
                </a:lnTo>
                <a:lnTo>
                  <a:pt x="0" y="8229600"/>
                </a:lnTo>
                <a:lnTo>
                  <a:pt x="0" y="0"/>
                </a:lnTo>
                <a:close/>
              </a:path>
            </a:pathLst>
          </a:custGeom>
          <a:blipFill>
            <a:blip r:embed="rId2"/>
            <a:stretch>
              <a:fillRect/>
            </a:stretch>
          </a:blipFill>
        </p:spPr>
        <p:txBody>
          <a:bodyPr/>
          <a:lstStyle/>
          <a:p>
            <a:endParaRPr lang="en-US"/>
          </a:p>
        </p:txBody>
      </p:sp>
      <p:sp>
        <p:nvSpPr>
          <p:cNvPr id="4" name="Freeform 4"/>
          <p:cNvSpPr/>
          <p:nvPr/>
        </p:nvSpPr>
        <p:spPr>
          <a:xfrm>
            <a:off x="-1326401" y="6761400"/>
            <a:ext cx="3095205" cy="3087467"/>
          </a:xfrm>
          <a:custGeom>
            <a:avLst/>
            <a:gdLst/>
            <a:ahLst/>
            <a:cxnLst/>
            <a:rect l="l" t="t" r="r" b="b"/>
            <a:pathLst>
              <a:path w="3095205" h="3087467">
                <a:moveTo>
                  <a:pt x="0" y="0"/>
                </a:moveTo>
                <a:lnTo>
                  <a:pt x="3095205" y="0"/>
                </a:lnTo>
                <a:lnTo>
                  <a:pt x="3095205" y="3087467"/>
                </a:lnTo>
                <a:lnTo>
                  <a:pt x="0" y="308746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6555686" y="399488"/>
            <a:ext cx="3156157" cy="3148266"/>
          </a:xfrm>
          <a:custGeom>
            <a:avLst/>
            <a:gdLst/>
            <a:ahLst/>
            <a:cxnLst/>
            <a:rect l="l" t="t" r="r" b="b"/>
            <a:pathLst>
              <a:path w="3156157" h="3148266">
                <a:moveTo>
                  <a:pt x="0" y="0"/>
                </a:moveTo>
                <a:lnTo>
                  <a:pt x="3156156" y="0"/>
                </a:lnTo>
                <a:lnTo>
                  <a:pt x="3156156" y="3148266"/>
                </a:lnTo>
                <a:lnTo>
                  <a:pt x="0" y="31482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2077569" y="-2270488"/>
            <a:ext cx="4597542" cy="4114800"/>
          </a:xfrm>
          <a:custGeom>
            <a:avLst/>
            <a:gdLst/>
            <a:ahLst/>
            <a:cxnLst/>
            <a:rect l="l" t="t" r="r" b="b"/>
            <a:pathLst>
              <a:path w="4597542" h="4114800">
                <a:moveTo>
                  <a:pt x="0" y="0"/>
                </a:moveTo>
                <a:lnTo>
                  <a:pt x="4597542" y="0"/>
                </a:lnTo>
                <a:lnTo>
                  <a:pt x="459754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5698618" y="8406361"/>
            <a:ext cx="4597542" cy="4114800"/>
          </a:xfrm>
          <a:custGeom>
            <a:avLst/>
            <a:gdLst/>
            <a:ahLst/>
            <a:cxnLst/>
            <a:rect l="l" t="t" r="r" b="b"/>
            <a:pathLst>
              <a:path w="4597542" h="4114800">
                <a:moveTo>
                  <a:pt x="0" y="0"/>
                </a:moveTo>
                <a:lnTo>
                  <a:pt x="4597542" y="0"/>
                </a:lnTo>
                <a:lnTo>
                  <a:pt x="459754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8"/>
          <p:cNvSpPr txBox="1"/>
          <p:nvPr/>
        </p:nvSpPr>
        <p:spPr>
          <a:xfrm>
            <a:off x="2837027" y="4501437"/>
            <a:ext cx="12613945" cy="1240253"/>
          </a:xfrm>
          <a:prstGeom prst="rect">
            <a:avLst/>
          </a:prstGeom>
        </p:spPr>
        <p:txBody>
          <a:bodyPr lIns="0" tIns="0" rIns="0" bIns="0" rtlCol="0" anchor="t">
            <a:spAutoFit/>
          </a:bodyPr>
          <a:lstStyle/>
          <a:p>
            <a:pPr algn="ctr">
              <a:lnSpc>
                <a:spcPts val="9169"/>
              </a:lnSpc>
            </a:pPr>
            <a:r>
              <a:rPr lang="en-US" sz="9859">
                <a:solidFill>
                  <a:srgbClr val="7C8CBF"/>
                </a:solidFill>
                <a:latin typeface="Rubik One"/>
                <a:ea typeface="Rubik One"/>
                <a:cs typeface="Rubik One"/>
                <a:sym typeface="Rubik One"/>
              </a:rPr>
              <a:t>THANK YOU!</a:t>
            </a:r>
          </a:p>
        </p:txBody>
      </p:sp>
      <p:grpSp>
        <p:nvGrpSpPr>
          <p:cNvPr id="9" name="Group 9"/>
          <p:cNvGrpSpPr/>
          <p:nvPr/>
        </p:nvGrpSpPr>
        <p:grpSpPr>
          <a:xfrm>
            <a:off x="5083296" y="6380400"/>
            <a:ext cx="8121408" cy="47625"/>
            <a:chOff x="0" y="0"/>
            <a:chExt cx="2138972" cy="12543"/>
          </a:xfrm>
        </p:grpSpPr>
        <p:sp>
          <p:nvSpPr>
            <p:cNvPr id="10" name="Freeform 10"/>
            <p:cNvSpPr/>
            <p:nvPr/>
          </p:nvSpPr>
          <p:spPr>
            <a:xfrm>
              <a:off x="0" y="0"/>
              <a:ext cx="2138972" cy="12543"/>
            </a:xfrm>
            <a:custGeom>
              <a:avLst/>
              <a:gdLst/>
              <a:ahLst/>
              <a:cxnLst/>
              <a:rect l="l" t="t" r="r" b="b"/>
              <a:pathLst>
                <a:path w="2138972" h="12543">
                  <a:moveTo>
                    <a:pt x="6272" y="0"/>
                  </a:moveTo>
                  <a:lnTo>
                    <a:pt x="2132700" y="0"/>
                  </a:lnTo>
                  <a:cubicBezTo>
                    <a:pt x="2134364" y="0"/>
                    <a:pt x="2135959" y="661"/>
                    <a:pt x="2137135" y="1837"/>
                  </a:cubicBezTo>
                  <a:cubicBezTo>
                    <a:pt x="2138311" y="3013"/>
                    <a:pt x="2138972" y="4608"/>
                    <a:pt x="2138972" y="6272"/>
                  </a:cubicBezTo>
                  <a:lnTo>
                    <a:pt x="2138972" y="6272"/>
                  </a:lnTo>
                  <a:cubicBezTo>
                    <a:pt x="2138972" y="7935"/>
                    <a:pt x="2138311" y="9530"/>
                    <a:pt x="2137135" y="10706"/>
                  </a:cubicBezTo>
                  <a:cubicBezTo>
                    <a:pt x="2135959" y="11882"/>
                    <a:pt x="2134364" y="12543"/>
                    <a:pt x="2132700"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7C8CBF"/>
            </a:solidFill>
          </p:spPr>
          <p:txBody>
            <a:bodyPr/>
            <a:lstStyle/>
            <a:p>
              <a:endParaRPr lang="en-US"/>
            </a:p>
          </p:txBody>
        </p:sp>
        <p:sp>
          <p:nvSpPr>
            <p:cNvPr id="11" name="TextBox 11"/>
            <p:cNvSpPr txBox="1"/>
            <p:nvPr/>
          </p:nvSpPr>
          <p:spPr>
            <a:xfrm>
              <a:off x="0" y="-57150"/>
              <a:ext cx="2138972" cy="69693"/>
            </a:xfrm>
            <a:prstGeom prst="rect">
              <a:avLst/>
            </a:prstGeom>
          </p:spPr>
          <p:txBody>
            <a:bodyPr lIns="50800" tIns="50800" rIns="50800" bIns="50800" rtlCol="0" anchor="ctr"/>
            <a:lstStyle/>
            <a:p>
              <a:pPr algn="ctr">
                <a:lnSpc>
                  <a:spcPts val="2786"/>
                </a:lnSpc>
              </a:pPr>
              <a:endParaRPr/>
            </a:p>
          </p:txBody>
        </p:sp>
      </p:grpSp>
      <p:sp>
        <p:nvSpPr>
          <p:cNvPr id="12" name="TextBox 12"/>
          <p:cNvSpPr txBox="1"/>
          <p:nvPr/>
        </p:nvSpPr>
        <p:spPr>
          <a:xfrm>
            <a:off x="3931344" y="5798840"/>
            <a:ext cx="10425313" cy="458084"/>
          </a:xfrm>
          <a:prstGeom prst="rect">
            <a:avLst/>
          </a:prstGeom>
        </p:spPr>
        <p:txBody>
          <a:bodyPr lIns="0" tIns="0" rIns="0" bIns="0" rtlCol="0" anchor="t">
            <a:spAutoFit/>
          </a:bodyPr>
          <a:lstStyle/>
          <a:p>
            <a:pPr algn="ctr">
              <a:lnSpc>
                <a:spcPts val="3626"/>
              </a:lnSpc>
              <a:spcBef>
                <a:spcPct val="0"/>
              </a:spcBef>
            </a:pPr>
            <a:r>
              <a:rPr lang="en-US" sz="2590" spc="-51">
                <a:solidFill>
                  <a:srgbClr val="000000"/>
                </a:solidFill>
                <a:latin typeface="Poppins"/>
                <a:ea typeface="Poppins"/>
                <a:cs typeface="Poppins"/>
                <a:sym typeface="Poppins"/>
              </a:rPr>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f16cbb3-dd93-41ce-8695-1f37d1dabeb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B23ACAF261CFA4EA7DE280DFA2F3C0C" ma:contentTypeVersion="9" ma:contentTypeDescription="Create a new document." ma:contentTypeScope="" ma:versionID="e843eceebf35dab597d1dc3b12122219">
  <xsd:schema xmlns:xsd="http://www.w3.org/2001/XMLSchema" xmlns:xs="http://www.w3.org/2001/XMLSchema" xmlns:p="http://schemas.microsoft.com/office/2006/metadata/properties" xmlns:ns3="2f16cbb3-dd93-41ce-8695-1f37d1dabeba" xmlns:ns4="10624c12-db51-4ea2-9625-b7fb97a3b323" targetNamespace="http://schemas.microsoft.com/office/2006/metadata/properties" ma:root="true" ma:fieldsID="ce7a7d43f672c5666082c1297dd04ab6" ns3:_="" ns4:_="">
    <xsd:import namespace="2f16cbb3-dd93-41ce-8695-1f37d1dabeba"/>
    <xsd:import namespace="10624c12-db51-4ea2-9625-b7fb97a3b323"/>
    <xsd:element name="properties">
      <xsd:complexType>
        <xsd:sequence>
          <xsd:element name="documentManagement">
            <xsd:complexType>
              <xsd:all>
                <xsd:element ref="ns3:_activity" minOccurs="0"/>
                <xsd:element ref="ns3:MediaServiceMetadata" minOccurs="0"/>
                <xsd:element ref="ns3:MediaServiceFastMetadata" minOccurs="0"/>
                <xsd:element ref="ns3:MediaServiceObjectDetectorVersions" minOccurs="0"/>
                <xsd:element ref="ns4:SharedWithUsers" minOccurs="0"/>
                <xsd:element ref="ns4:SharedWithDetails" minOccurs="0"/>
                <xsd:element ref="ns4:SharingHintHash"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16cbb3-dd93-41ce-8695-1f37d1dabeba"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0624c12-db51-4ea2-9625-b7fb97a3b32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6566A95-A9E5-44AD-8172-17E8B117112D}">
  <ds:schemaRefs>
    <ds:schemaRef ds:uri="http://purl.org/dc/terms/"/>
    <ds:schemaRef ds:uri="http://purl.org/dc/elements/1.1/"/>
    <ds:schemaRef ds:uri="http://schemas.microsoft.com/office/2006/documentManagement/types"/>
    <ds:schemaRef ds:uri="http://schemas.microsoft.com/office/2006/metadata/properties"/>
    <ds:schemaRef ds:uri="http://www.w3.org/XML/1998/namespace"/>
    <ds:schemaRef ds:uri="http://purl.org/dc/dcmitype/"/>
    <ds:schemaRef ds:uri="http://schemas.openxmlformats.org/package/2006/metadata/core-properties"/>
    <ds:schemaRef ds:uri="http://schemas.microsoft.com/office/infopath/2007/PartnerControls"/>
    <ds:schemaRef ds:uri="10624c12-db51-4ea2-9625-b7fb97a3b323"/>
    <ds:schemaRef ds:uri="2f16cbb3-dd93-41ce-8695-1f37d1dabeba"/>
  </ds:schemaRefs>
</ds:datastoreItem>
</file>

<file path=customXml/itemProps2.xml><?xml version="1.0" encoding="utf-8"?>
<ds:datastoreItem xmlns:ds="http://schemas.openxmlformats.org/officeDocument/2006/customXml" ds:itemID="{A50604CE-6983-49D8-B321-89D4D6CC15D2}">
  <ds:schemaRefs>
    <ds:schemaRef ds:uri="http://schemas.microsoft.com/sharepoint/v3/contenttype/forms"/>
  </ds:schemaRefs>
</ds:datastoreItem>
</file>

<file path=customXml/itemProps3.xml><?xml version="1.0" encoding="utf-8"?>
<ds:datastoreItem xmlns:ds="http://schemas.openxmlformats.org/officeDocument/2006/customXml" ds:itemID="{E88C73DC-AC29-4E20-ABAB-4800C14646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16cbb3-dd93-41ce-8695-1f37d1dabeba"/>
    <ds:schemaRef ds:uri="10624c12-db51-4ea2-9625-b7fb97a3b3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39</TotalTime>
  <Words>883</Words>
  <Application>Microsoft Office PowerPoint</Application>
  <PresentationFormat>Custom</PresentationFormat>
  <Paragraphs>49</Paragraphs>
  <Slides>14</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Rubik One</vt:lpstr>
      <vt:lpstr>Poppins Italics</vt:lpstr>
      <vt:lpstr>Poppins Medium</vt:lpstr>
      <vt:lpstr>Arial</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Light Blue Modern Innovations in Medicine Presentation</dc:title>
  <dc:creator>Himani Batham</dc:creator>
  <cp:lastModifiedBy>Himani Dinesh Batham</cp:lastModifiedBy>
  <cp:revision>3</cp:revision>
  <dcterms:created xsi:type="dcterms:W3CDTF">2006-08-16T00:00:00Z</dcterms:created>
  <dcterms:modified xsi:type="dcterms:W3CDTF">2026-04-14T13:59:36Z</dcterms:modified>
  <dc:identifier>DAHGXPYb_0M</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0x010100FB23ACAF261CFA4EA7DE280DFA2F3C0C</vt:lpwstr>
  </property>
</Properties>
</file>